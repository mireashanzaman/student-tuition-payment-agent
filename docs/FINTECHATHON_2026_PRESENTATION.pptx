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1d2582-5f4c-ddc9-de17-1b8d4ae31dfc}">
          <p14:sldIdLst>
            <p14:sldId id="256"/>
          </p14:sldIdLst>
        </p14:section>
        <p14:section name="Problem &amp; Solution" id="{9f813074-b796-4234-c30f-e8fe569baeda}">
          <p14:sldIdLst>
            <p14:sldId id="257"/>
            <p14:sldId id="258"/>
          </p14:sldIdLst>
        </p14:section>
        <p14:section name="Architecture &amp; Safety" id="{b7ccc9ed-6a8c-b008-afb0-08ec6798126e}">
          <p14:sldIdLst>
            <p14:sldId id="259"/>
            <p14:sldId id="260"/>
            <p14:sldId id="261"/>
          </p14:sldIdLst>
        </p14:section>
        <p14:section name="Demo &amp; Evidence" id="{559ab212-aae2-ac31-ae9e-49acc6908e48}">
          <p14:sldIdLst>
            <p14:sldId id="262"/>
            <p14:sldId id="263"/>
            <p14:sldId id="264"/>
          </p14:sldIdLst>
        </p14:section>
        <p14:section name="Roadmap" id="{993b9e81-ba16-de8b-736c-a748bef0b327}">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Mir Eashan Zaman and Ishmam Mubtasim from American International University-Bangladesh in Dhaka. Our project is the Student Tuition Payment Agent, for Topic C, cross-border and student finance. It helps a student pay foreign university tuition. The agent compares payment routes, prepares a draft, and then the student approves it. The main idea is simple: the AI helps with the work, but it can never move money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students from Bangladesh face three problems when they pay tuition abroad. First, banks may advertise a low fee but hide extra cost in the exchange rate. Second, wire transfers pass through several banks and can take days, which risks late fees or an enrollment hold. Third, students get almost no guidance about which route is cheapest, fastest, or safest. The result is stress, extra cost, and missed deadlines for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an AI tuition agent with four main features. It optimizes routes by scoring cost, speed, and reliability together. A deadline sentinel warns the student if a route may arrive after the tuition due date. Permission tiers make sure the AI can only read and draft, and only the student can approve a payment. And the agent explains why a route won, using clear weights of fifty, thirty, and twenty percent, so the student stays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The frontend is Next.js, with the chat, the dashboard, and the audit viewer. It talks to a NestJS API, which holds the permission guards, the safety rules, and the agent tools. Data lives in PostgreSQL, in four tables: accounts, rates, transfers, and the audit log. The LLM agent connects to the API through tool calling, and there is an offline sandbox mode so the system works without an API key. Everything starts with one Docker Compose command, CI runs on GitHub Actions, and we have eighty Jest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thirty percent of the score, so this is the core of our design. There are three permission tiers. Read-only lets the AI check balances, compare routes, and read the audit log, and no money moves. Draft lets the AI create a pending transfer with a one-time token, but the balance does not change. Execute is human only: the student must confirm with the token and explicit consent, and the AI is blocked from this tier. On top of that, hard limits of four hundred thousand taka per transfer and one million per day are enforced in backend code, not in the AI prompt, so a clever message cannot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innovation. Our agent ranks routes with a clear formula: fifty percent cost, thirty percent speed, twenty percent reliability, minus a forty point penalty if the route would arrive after the tuition deadline. Here are the four sample routes in our sandbox. EduPay Prime ranks first overall. SwiftWire Express is the fastest, at four hours, and is useful when the deadline is tight. The agent also explains this ranking to the student in plain words, so the choice is never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flow, which matches the real run in our evidence file. Step one: the student asks to pay three thousand dollars of tuition, and the agent ranks four routes. Step two: it drafts a transfer with EduPay Prime for about 358 thousand taka, and the balance does not change. Step three: the student confirms and the balance goes from 850 thousand to about 491 thousand. Step four: a Saga rollback restores the money. Step five: a four thousand five hundred dollar request is blocked by the limit. Step six: prompt injection and shell-bomb attacks are blocked and logged. We will show this live in the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action in the system is written to an audit log. This table shows real entries from our sandbox export, with the event type, the permission tier, and the result. You can see successful actions, the rollback, the blocked over-limit transfer, the flagged prompt injection, and the blocked shell-bomb attack. The log is append-only by design. Administrators can only prune it in sandbox mode. For production, we would stream the logs to write-once storage. The raw file, execution-evidence.json, is in our repository and matches these entries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backend has eighty automated Jest tests, and all of them pass. They are split across a security suite and a hardening suite. The tests cover the financial rules: limits are enforced, the AI cannot confirm a payment, consent and the token are required, and a rollback restores the funds. They also cover security hardening: rate limits on login and chat, isolation between students, rejection of tampered tokens, blocking of injection and shell-bomb attacks, and admin-only sandbox reset. The test output is included in our execution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next steps, in the short term we would connect to university portals to import tuition invoices. In the medium term we would work with a central bank sandbox and real-time gross settlement rails. In the long term we would support split payments, for example part from family savings and part from an education loan. Before going live, we would also add KYC and AML screening, distributed rate limiting, and an independent security audit. Thank you to the judges and the organizers. We are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tx2"/>
                </a:solidFill>
              </a:rPr>
              <a:t>FinTechathon 2026  |  Student Tuition Payment Agent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6"/>
                </a:solidFill>
              </a:rPr>
              <a:t>FINTECHATHON 2026  |  INTERNATIONAL TRACK  |  TOPIC C</a:t>
            </a:r>
            <a:endParaRPr lang="en-US" sz="1100" dirty="0"/>
          </a:p>
        </p:txBody>
      </p:sp>
      <p:sp>
        <p:nvSpPr>
          <p:cNvPr id="3" name="Title"/>
          <p:cNvSpPr txBox="1"/>
          <p:nvPr/>
        </p:nvSpPr>
        <p:spPr>
          <a:xfrm>
            <a:off x="457200" y="914400"/>
            <a:ext cx="4846320" cy="1554480"/>
          </a:xfrm>
          <a:prstGeom prst="rect">
            <a:avLst/>
          </a:prstGeom>
          <a:noFill/>
          <a:ln/>
        </p:spPr>
        <p:txBody>
          <a:bodyPr wrap="square" lIns="0" tIns="0" rIns="0" bIns="0" rtlCol="0" anchor="t"/>
          <a:lstStyle/>
          <a:p>
            <a:pPr indent="0" marL="0">
              <a:buNone/>
            </a:pPr>
            <a:r>
              <a:rPr lang="en-US" sz="4400" b="1" dirty="0">
                <a:solidFill>
                  <a:schemeClr val="bg1"/>
                </a:solidFill>
              </a:rPr>
              <a:t>Student Tuition Payment Agent</a:t>
            </a:r>
            <a:endParaRPr lang="en-US" sz="4400" dirty="0"/>
          </a:p>
        </p:txBody>
      </p:sp>
      <p:sp>
        <p:nvSpPr>
          <p:cNvPr id="4" name="Subtitle"/>
          <p:cNvSpPr txBox="1"/>
          <p:nvPr/>
        </p:nvSpPr>
        <p:spPr>
          <a:xfrm>
            <a:off x="457200" y="2606040"/>
            <a:ext cx="4754880" cy="868680"/>
          </a:xfrm>
          <a:prstGeom prst="rect">
            <a:avLst/>
          </a:prstGeom>
          <a:noFill/>
          <a:ln/>
        </p:spPr>
        <p:txBody>
          <a:bodyPr wrap="square" lIns="0" tIns="0" rIns="0" bIns="0" rtlCol="0" anchor="t"/>
          <a:lstStyle/>
          <a:p>
            <a:pPr indent="0" marL="0">
              <a:buNone/>
            </a:pPr>
            <a:r>
              <a:rPr lang="en-US" sz="1600" dirty="0">
                <a:solidFill>
                  <a:schemeClr val="bg2"/>
                </a:solidFill>
              </a:rPr>
              <a:t>An AI agent that compares routes, drafts the payment, and never moves money without the student’s approval.</a:t>
            </a:r>
            <a:endParaRPr lang="en-US" sz="1600" dirty="0"/>
          </a:p>
        </p:txBody>
      </p:sp>
      <p:sp>
        <p:nvSpPr>
          <p:cNvPr id="5" name="Team"/>
          <p:cNvSpPr txBox="1"/>
          <p:nvPr/>
        </p:nvSpPr>
        <p:spPr>
          <a:xfrm>
            <a:off x="457200" y="3931920"/>
            <a:ext cx="4937760" cy="640080"/>
          </a:xfrm>
          <a:prstGeom prst="rect">
            <a:avLst/>
          </a:prstGeom>
          <a:noFill/>
          <a:ln/>
        </p:spPr>
        <p:txBody>
          <a:bodyPr wrap="square" lIns="0" tIns="0" rIns="0" bIns="0" rtlCol="0" anchor="t"/>
          <a:lstStyle/>
          <a:p>
            <a:pPr indent="0" marL="0">
              <a:buNone/>
            </a:pPr>
            <a:r>
              <a:rPr lang="en-US" sz="1600" b="1" dirty="0">
                <a:solidFill>
                  <a:schemeClr val="bg1"/>
                </a:solidFill>
              </a:rPr>
              <a:t>Mir Eashan Zaman &amp; Ishmam Mubtasim</a:t>
            </a:r>
            <a:endParaRPr lang="en-US" sz="1600" dirty="0"/>
          </a:p>
          <a:p>
            <a:pPr indent="0" marL="0">
              <a:buNone/>
            </a:pPr>
            <a:r>
              <a:rPr lang="en-US" sz="1300" dirty="0">
                <a:solidFill>
                  <a:schemeClr val="accent6"/>
                </a:solidFill>
              </a:rPr>
              <a:t>American International University-Bangladesh (AIUB)</a:t>
            </a:r>
            <a:endParaRPr lang="en-US" sz="1600" dirty="0"/>
          </a:p>
        </p:txBody>
      </p:sp>
      <p:sp>
        <p:nvSpPr>
          <p:cNvPr id="6" name="Flow pill 1"/>
          <p:cNvSpPr/>
          <p:nvPr/>
        </p:nvSpPr>
        <p:spPr>
          <a:xfrm>
            <a:off x="5715000" y="1097280"/>
            <a:ext cx="2971800" cy="868680"/>
          </a:xfrm>
          <a:prstGeom prst="roundRect">
            <a:avLst>
              <a:gd name="adj" fmla="val 10526"/>
            </a:avLst>
          </a:prstGeom>
          <a:solidFill>
            <a:schemeClr val="bg1">
              <a:alpha val="10000"/>
            </a:schemeClr>
          </a:solidFill>
          <a:ln/>
        </p:spPr>
      </p:sp>
      <p:sp>
        <p:nvSpPr>
          <p:cNvPr id="7" name="Flow circle 1"/>
          <p:cNvSpPr/>
          <p:nvPr/>
        </p:nvSpPr>
        <p:spPr>
          <a:xfrm>
            <a:off x="5897880" y="1271016"/>
            <a:ext cx="521208" cy="521208"/>
          </a:xfrm>
          <a:prstGeom prst="ellipse">
            <a:avLst/>
          </a:prstGeom>
          <a:solidFill>
            <a:schemeClr val="accent6"/>
          </a:solidFill>
          <a:ln/>
        </p:spPr>
      </p:sp>
      <p:pic>
        <p:nvPicPr>
          <p:cNvPr id="8" name="Flow icon 1" descr="preencoded.png">    </p:cNvPr>
          <p:cNvPicPr>
            <a:picLocks noChangeAspect="1"/>
          </p:cNvPicPr>
          <p:nvPr/>
        </p:nvPicPr>
        <p:blipFill>
          <a:blip r:embed="rId1"/>
          <a:stretch>
            <a:fillRect/>
          </a:stretch>
        </p:blipFill>
        <p:spPr>
          <a:xfrm>
            <a:off x="6025896" y="1399032"/>
            <a:ext cx="265176" cy="265176"/>
          </a:xfrm>
          <a:prstGeom prst="rect">
            <a:avLst/>
          </a:prstGeom>
        </p:spPr>
      </p:pic>
      <p:sp>
        <p:nvSpPr>
          <p:cNvPr id="9" name="Flow label 1"/>
          <p:cNvSpPr txBox="1"/>
          <p:nvPr/>
        </p:nvSpPr>
        <p:spPr>
          <a:xfrm>
            <a:off x="6629400" y="1097280"/>
            <a:ext cx="1920240" cy="868680"/>
          </a:xfrm>
          <a:prstGeom prst="rect">
            <a:avLst/>
          </a:prstGeom>
          <a:noFill/>
          <a:ln/>
        </p:spPr>
        <p:txBody>
          <a:bodyPr wrap="square" lIns="0" tIns="0" rIns="0" bIns="0" rtlCol="0" anchor="ctr"/>
          <a:lstStyle/>
          <a:p>
            <a:pPr indent="0" marL="0">
              <a:buNone/>
            </a:pPr>
            <a:r>
              <a:rPr lang="en-US" sz="1600" b="1" dirty="0">
                <a:solidFill>
                  <a:schemeClr val="bg1"/>
                </a:solidFill>
              </a:rPr>
              <a:t>Compare routes</a:t>
            </a:r>
            <a:endParaRPr lang="en-US" sz="1600" dirty="0"/>
          </a:p>
        </p:txBody>
      </p:sp>
      <p:sp>
        <p:nvSpPr>
          <p:cNvPr id="10" name="Flow pill 2"/>
          <p:cNvSpPr/>
          <p:nvPr/>
        </p:nvSpPr>
        <p:spPr>
          <a:xfrm>
            <a:off x="5715000" y="2194560"/>
            <a:ext cx="2971800" cy="868680"/>
          </a:xfrm>
          <a:prstGeom prst="roundRect">
            <a:avLst>
              <a:gd name="adj" fmla="val 10526"/>
            </a:avLst>
          </a:prstGeom>
          <a:solidFill>
            <a:schemeClr val="bg1">
              <a:alpha val="10000"/>
            </a:schemeClr>
          </a:solidFill>
          <a:ln/>
        </p:spPr>
      </p:sp>
      <p:sp>
        <p:nvSpPr>
          <p:cNvPr id="11" name="Flow circle 2"/>
          <p:cNvSpPr/>
          <p:nvPr/>
        </p:nvSpPr>
        <p:spPr>
          <a:xfrm>
            <a:off x="5897880" y="2368296"/>
            <a:ext cx="521208" cy="521208"/>
          </a:xfrm>
          <a:prstGeom prst="ellipse">
            <a:avLst/>
          </a:prstGeom>
          <a:solidFill>
            <a:schemeClr val="accent6"/>
          </a:solidFill>
          <a:ln/>
        </p:spPr>
      </p:sp>
      <p:pic>
        <p:nvPicPr>
          <p:cNvPr id="12" name="Flow icon 2" descr="preencoded.png">    </p:cNvPr>
          <p:cNvPicPr>
            <a:picLocks noChangeAspect="1"/>
          </p:cNvPicPr>
          <p:nvPr/>
        </p:nvPicPr>
        <p:blipFill>
          <a:blip r:embed="rId2"/>
          <a:stretch>
            <a:fillRect/>
          </a:stretch>
        </p:blipFill>
        <p:spPr>
          <a:xfrm>
            <a:off x="6025896" y="2496312"/>
            <a:ext cx="265176" cy="265176"/>
          </a:xfrm>
          <a:prstGeom prst="rect">
            <a:avLst/>
          </a:prstGeom>
        </p:spPr>
      </p:pic>
      <p:sp>
        <p:nvSpPr>
          <p:cNvPr id="13" name="Flow label 2"/>
          <p:cNvSpPr txBox="1"/>
          <p:nvPr/>
        </p:nvSpPr>
        <p:spPr>
          <a:xfrm>
            <a:off x="6629400" y="2194560"/>
            <a:ext cx="1920240" cy="868680"/>
          </a:xfrm>
          <a:prstGeom prst="rect">
            <a:avLst/>
          </a:prstGeom>
          <a:noFill/>
          <a:ln/>
        </p:spPr>
        <p:txBody>
          <a:bodyPr wrap="square" lIns="0" tIns="0" rIns="0" bIns="0" rtlCol="0" anchor="ctr"/>
          <a:lstStyle/>
          <a:p>
            <a:pPr indent="0" marL="0">
              <a:buNone/>
            </a:pPr>
            <a:r>
              <a:rPr lang="en-US" sz="1600" b="1" dirty="0">
                <a:solidFill>
                  <a:schemeClr val="bg1"/>
                </a:solidFill>
              </a:rPr>
              <a:t>Draft the transfer</a:t>
            </a:r>
            <a:endParaRPr lang="en-US" sz="1600" dirty="0"/>
          </a:p>
        </p:txBody>
      </p:sp>
      <p:sp>
        <p:nvSpPr>
          <p:cNvPr id="14" name="Flow pill 3"/>
          <p:cNvSpPr/>
          <p:nvPr/>
        </p:nvSpPr>
        <p:spPr>
          <a:xfrm>
            <a:off x="5715000" y="3291840"/>
            <a:ext cx="2971800" cy="868680"/>
          </a:xfrm>
          <a:prstGeom prst="roundRect">
            <a:avLst>
              <a:gd name="adj" fmla="val 10526"/>
            </a:avLst>
          </a:prstGeom>
          <a:solidFill>
            <a:schemeClr val="bg1">
              <a:alpha val="10000"/>
            </a:schemeClr>
          </a:solidFill>
          <a:ln/>
        </p:spPr>
      </p:sp>
      <p:sp>
        <p:nvSpPr>
          <p:cNvPr id="15" name="Flow circle 3"/>
          <p:cNvSpPr/>
          <p:nvPr/>
        </p:nvSpPr>
        <p:spPr>
          <a:xfrm>
            <a:off x="5897880" y="3465576"/>
            <a:ext cx="521208" cy="521208"/>
          </a:xfrm>
          <a:prstGeom prst="ellipse">
            <a:avLst/>
          </a:prstGeom>
          <a:solidFill>
            <a:schemeClr val="accent6"/>
          </a:solidFill>
          <a:ln/>
        </p:spPr>
      </p:sp>
      <p:pic>
        <p:nvPicPr>
          <p:cNvPr id="16" name="Flow icon 3" descr="preencoded.png">    </p:cNvPr>
          <p:cNvPicPr>
            <a:picLocks noChangeAspect="1"/>
          </p:cNvPicPr>
          <p:nvPr/>
        </p:nvPicPr>
        <p:blipFill>
          <a:blip r:embed="rId3"/>
          <a:stretch>
            <a:fillRect/>
          </a:stretch>
        </p:blipFill>
        <p:spPr>
          <a:xfrm>
            <a:off x="6025896" y="3593592"/>
            <a:ext cx="265176" cy="265176"/>
          </a:xfrm>
          <a:prstGeom prst="rect">
            <a:avLst/>
          </a:prstGeom>
        </p:spPr>
      </p:pic>
      <p:sp>
        <p:nvSpPr>
          <p:cNvPr id="17" name="Flow label 3"/>
          <p:cNvSpPr txBox="1"/>
          <p:nvPr/>
        </p:nvSpPr>
        <p:spPr>
          <a:xfrm>
            <a:off x="6629400" y="3291840"/>
            <a:ext cx="1920240" cy="868680"/>
          </a:xfrm>
          <a:prstGeom prst="rect">
            <a:avLst/>
          </a:prstGeom>
          <a:noFill/>
          <a:ln/>
        </p:spPr>
        <p:txBody>
          <a:bodyPr wrap="square" lIns="0" tIns="0" rIns="0" bIns="0" rtlCol="0" anchor="ctr"/>
          <a:lstStyle/>
          <a:p>
            <a:pPr indent="0" marL="0">
              <a:buNone/>
            </a:pPr>
            <a:r>
              <a:rPr lang="en-US" sz="1600" b="1" dirty="0">
                <a:solidFill>
                  <a:schemeClr val="bg1"/>
                </a:solidFill>
              </a:rPr>
              <a:t>Student confirms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THE PROBLEM</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The Tuition Remittance Problem</a:t>
            </a:r>
            <a:endParaRPr lang="en-US" sz="3400" dirty="0"/>
          </a:p>
        </p:txBody>
      </p:sp>
      <p:sp>
        <p:nvSpPr>
          <p:cNvPr id="4" name="Problem card 1"/>
          <p:cNvSpPr/>
          <p:nvPr/>
        </p:nvSpPr>
        <p:spPr>
          <a:xfrm>
            <a:off x="457200" y="1325880"/>
            <a:ext cx="2606040" cy="2514600"/>
          </a:xfrm>
          <a:prstGeom prst="roundRect">
            <a:avLst>
              <a:gd name="adj" fmla="val 2909"/>
            </a:avLst>
          </a:prstGeom>
          <a:solidFill>
            <a:schemeClr val="bg2"/>
          </a:solidFill>
          <a:ln/>
          <a:effectLst>
            <a:outerShdw sx="100000" sy="100000" kx="0" ky="0" algn="bl" rotWithShape="0" blurRad="76200" dist="25400" dir="5400000">
              <a:srgbClr val="0B1226">
                <a:alpha val="10000"/>
              </a:srgbClr>
            </a:outerShdw>
          </a:effectLst>
        </p:spPr>
      </p:sp>
      <p:sp>
        <p:nvSpPr>
          <p:cNvPr id="5" name="Problem 1 circle"/>
          <p:cNvSpPr/>
          <p:nvPr/>
        </p:nvSpPr>
        <p:spPr>
          <a:xfrm>
            <a:off x="685800" y="1554480"/>
            <a:ext cx="594360" cy="594360"/>
          </a:xfrm>
          <a:prstGeom prst="ellipse">
            <a:avLst/>
          </a:prstGeom>
          <a:solidFill>
            <a:schemeClr val="accent4"/>
          </a:solidFill>
          <a:ln/>
        </p:spPr>
      </p:sp>
      <p:pic>
        <p:nvPicPr>
          <p:cNvPr id="6" name="Problem 1 icon" descr="preencoded.png">    </p:cNvPr>
          <p:cNvPicPr>
            <a:picLocks noChangeAspect="1"/>
          </p:cNvPicPr>
          <p:nvPr/>
        </p:nvPicPr>
        <p:blipFill>
          <a:blip r:embed="rId1"/>
          <a:stretch>
            <a:fillRect/>
          </a:stretch>
        </p:blipFill>
        <p:spPr>
          <a:xfrm>
            <a:off x="828446" y="1697126"/>
            <a:ext cx="309067" cy="309067"/>
          </a:xfrm>
          <a:prstGeom prst="rect">
            <a:avLst/>
          </a:prstGeom>
        </p:spPr>
      </p:pic>
      <p:sp>
        <p:nvSpPr>
          <p:cNvPr id="7" name="Problem heading 1"/>
          <p:cNvSpPr txBox="1"/>
          <p:nvPr/>
        </p:nvSpPr>
        <p:spPr>
          <a:xfrm>
            <a:off x="685800" y="2286000"/>
            <a:ext cx="2194560" cy="320040"/>
          </a:xfrm>
          <a:prstGeom prst="rect">
            <a:avLst/>
          </a:prstGeom>
          <a:noFill/>
          <a:ln/>
        </p:spPr>
        <p:txBody>
          <a:bodyPr wrap="square" lIns="0" tIns="0" rIns="0" bIns="0" rtlCol="0" anchor="t"/>
          <a:lstStyle/>
          <a:p>
            <a:pPr indent="0" marL="0">
              <a:buNone/>
            </a:pPr>
            <a:r>
              <a:rPr lang="en-US" sz="1800" b="1" dirty="0">
                <a:solidFill>
                  <a:schemeClr val="tx1"/>
                </a:solidFill>
              </a:rPr>
              <a:t>Hidden FX markups</a:t>
            </a:r>
            <a:endParaRPr lang="en-US" sz="1800" dirty="0"/>
          </a:p>
        </p:txBody>
      </p:sp>
      <p:sp>
        <p:nvSpPr>
          <p:cNvPr id="8" name="Problem body 1"/>
          <p:cNvSpPr txBox="1"/>
          <p:nvPr/>
        </p:nvSpPr>
        <p:spPr>
          <a:xfrm>
            <a:off x="685800" y="2697480"/>
            <a:ext cx="2194560" cy="1051560"/>
          </a:xfrm>
          <a:prstGeom prst="rect">
            <a:avLst/>
          </a:prstGeom>
          <a:noFill/>
          <a:ln/>
        </p:spPr>
        <p:txBody>
          <a:bodyPr wrap="square" lIns="0" tIns="0" rIns="0" bIns="0" rtlCol="0" anchor="t"/>
          <a:lstStyle/>
          <a:p>
            <a:pPr indent="0" marL="0">
              <a:buNone/>
            </a:pPr>
            <a:r>
              <a:rPr lang="en-US" sz="1400" dirty="0">
                <a:solidFill>
                  <a:schemeClr val="tx2"/>
                </a:solidFill>
              </a:rPr>
              <a:t>Low upfront fees can hide extra cost inside the exchange rate.</a:t>
            </a:r>
            <a:endParaRPr lang="en-US" sz="1400" dirty="0"/>
          </a:p>
        </p:txBody>
      </p:sp>
      <p:sp>
        <p:nvSpPr>
          <p:cNvPr id="9" name="Problem card 2"/>
          <p:cNvSpPr/>
          <p:nvPr/>
        </p:nvSpPr>
        <p:spPr>
          <a:xfrm>
            <a:off x="3268980" y="1325880"/>
            <a:ext cx="2606040" cy="2514600"/>
          </a:xfrm>
          <a:prstGeom prst="roundRect">
            <a:avLst>
              <a:gd name="adj" fmla="val 2909"/>
            </a:avLst>
          </a:prstGeom>
          <a:solidFill>
            <a:schemeClr val="bg2"/>
          </a:solidFill>
          <a:ln/>
          <a:effectLst>
            <a:outerShdw sx="100000" sy="100000" kx="0" ky="0" algn="bl" rotWithShape="0" blurRad="76200" dist="25400" dir="5400000">
              <a:srgbClr val="0B1226">
                <a:alpha val="10000"/>
              </a:srgbClr>
            </a:outerShdw>
          </a:effectLst>
        </p:spPr>
      </p:sp>
      <p:sp>
        <p:nvSpPr>
          <p:cNvPr id="10" name="Problem 2 circle"/>
          <p:cNvSpPr/>
          <p:nvPr/>
        </p:nvSpPr>
        <p:spPr>
          <a:xfrm>
            <a:off x="3497580" y="1554480"/>
            <a:ext cx="594360" cy="594360"/>
          </a:xfrm>
          <a:prstGeom prst="ellipse">
            <a:avLst/>
          </a:prstGeom>
          <a:solidFill>
            <a:schemeClr val="accent3"/>
          </a:solidFill>
          <a:ln/>
        </p:spPr>
      </p:sp>
      <p:pic>
        <p:nvPicPr>
          <p:cNvPr id="11" name="Problem 2 icon" descr="preencoded.png">    </p:cNvPr>
          <p:cNvPicPr>
            <a:picLocks noChangeAspect="1"/>
          </p:cNvPicPr>
          <p:nvPr/>
        </p:nvPicPr>
        <p:blipFill>
          <a:blip r:embed="rId2"/>
          <a:stretch>
            <a:fillRect/>
          </a:stretch>
        </p:blipFill>
        <p:spPr>
          <a:xfrm>
            <a:off x="3640226" y="1697126"/>
            <a:ext cx="309067" cy="309067"/>
          </a:xfrm>
          <a:prstGeom prst="rect">
            <a:avLst/>
          </a:prstGeom>
        </p:spPr>
      </p:pic>
      <p:sp>
        <p:nvSpPr>
          <p:cNvPr id="12" name="Problem heading 2"/>
          <p:cNvSpPr txBox="1"/>
          <p:nvPr/>
        </p:nvSpPr>
        <p:spPr>
          <a:xfrm>
            <a:off x="3497580" y="2286000"/>
            <a:ext cx="2194560" cy="320040"/>
          </a:xfrm>
          <a:prstGeom prst="rect">
            <a:avLst/>
          </a:prstGeom>
          <a:noFill/>
          <a:ln/>
        </p:spPr>
        <p:txBody>
          <a:bodyPr wrap="square" lIns="0" tIns="0" rIns="0" bIns="0" rtlCol="0" anchor="t"/>
          <a:lstStyle/>
          <a:p>
            <a:pPr indent="0" marL="0">
              <a:buNone/>
            </a:pPr>
            <a:r>
              <a:rPr lang="en-US" sz="1800" b="1" dirty="0">
                <a:solidFill>
                  <a:schemeClr val="tx1"/>
                </a:solidFill>
              </a:rPr>
              <a:t>Slow transfers</a:t>
            </a:r>
            <a:endParaRPr lang="en-US" sz="1800" dirty="0"/>
          </a:p>
        </p:txBody>
      </p:sp>
      <p:sp>
        <p:nvSpPr>
          <p:cNvPr id="13" name="Problem body 2"/>
          <p:cNvSpPr txBox="1"/>
          <p:nvPr/>
        </p:nvSpPr>
        <p:spPr>
          <a:xfrm>
            <a:off x="3497580" y="2697480"/>
            <a:ext cx="2194560" cy="1051560"/>
          </a:xfrm>
          <a:prstGeom prst="rect">
            <a:avLst/>
          </a:prstGeom>
          <a:noFill/>
          <a:ln/>
        </p:spPr>
        <p:txBody>
          <a:bodyPr wrap="square" lIns="0" tIns="0" rIns="0" bIns="0" rtlCol="0" anchor="t"/>
          <a:lstStyle/>
          <a:p>
            <a:pPr indent="0" marL="0">
              <a:buNone/>
            </a:pPr>
            <a:r>
              <a:rPr lang="en-US" sz="1400" dirty="0">
                <a:solidFill>
                  <a:schemeClr val="tx2"/>
                </a:solidFill>
              </a:rPr>
              <a:t>Wires pass through several banks and can take days, risking late fees or enrollment holds.</a:t>
            </a:r>
            <a:endParaRPr lang="en-US" sz="1400" dirty="0"/>
          </a:p>
        </p:txBody>
      </p:sp>
      <p:sp>
        <p:nvSpPr>
          <p:cNvPr id="14" name="Problem card 3"/>
          <p:cNvSpPr/>
          <p:nvPr/>
        </p:nvSpPr>
        <p:spPr>
          <a:xfrm>
            <a:off x="6080760" y="1325880"/>
            <a:ext cx="2606040" cy="2514600"/>
          </a:xfrm>
          <a:prstGeom prst="roundRect">
            <a:avLst>
              <a:gd name="adj" fmla="val 2909"/>
            </a:avLst>
          </a:prstGeom>
          <a:solidFill>
            <a:schemeClr val="bg2"/>
          </a:solidFill>
          <a:ln/>
          <a:effectLst>
            <a:outerShdw sx="100000" sy="100000" kx="0" ky="0" algn="bl" rotWithShape="0" blurRad="76200" dist="25400" dir="5400000">
              <a:srgbClr val="0B1226">
                <a:alpha val="10000"/>
              </a:srgbClr>
            </a:outerShdw>
          </a:effectLst>
        </p:spPr>
      </p:sp>
      <p:sp>
        <p:nvSpPr>
          <p:cNvPr id="15" name="Problem 3 circle"/>
          <p:cNvSpPr/>
          <p:nvPr/>
        </p:nvSpPr>
        <p:spPr>
          <a:xfrm>
            <a:off x="6309360" y="1554480"/>
            <a:ext cx="594360" cy="594360"/>
          </a:xfrm>
          <a:prstGeom prst="ellipse">
            <a:avLst/>
          </a:prstGeom>
          <a:solidFill>
            <a:schemeClr val="accent2"/>
          </a:solidFill>
          <a:ln/>
        </p:spPr>
      </p:sp>
      <p:pic>
        <p:nvPicPr>
          <p:cNvPr id="16" name="Problem 3 icon" descr="preencoded.png">    </p:cNvPr>
          <p:cNvPicPr>
            <a:picLocks noChangeAspect="1"/>
          </p:cNvPicPr>
          <p:nvPr/>
        </p:nvPicPr>
        <p:blipFill>
          <a:blip r:embed="rId3"/>
          <a:stretch>
            <a:fillRect/>
          </a:stretch>
        </p:blipFill>
        <p:spPr>
          <a:xfrm>
            <a:off x="6452006" y="1697126"/>
            <a:ext cx="309067" cy="309067"/>
          </a:xfrm>
          <a:prstGeom prst="rect">
            <a:avLst/>
          </a:prstGeom>
        </p:spPr>
      </p:pic>
      <p:sp>
        <p:nvSpPr>
          <p:cNvPr id="17" name="Problem heading 3"/>
          <p:cNvSpPr txBox="1"/>
          <p:nvPr/>
        </p:nvSpPr>
        <p:spPr>
          <a:xfrm>
            <a:off x="6309360" y="2286000"/>
            <a:ext cx="2194560" cy="320040"/>
          </a:xfrm>
          <a:prstGeom prst="rect">
            <a:avLst/>
          </a:prstGeom>
          <a:noFill/>
          <a:ln/>
        </p:spPr>
        <p:txBody>
          <a:bodyPr wrap="square" lIns="0" tIns="0" rIns="0" bIns="0" rtlCol="0" anchor="t"/>
          <a:lstStyle/>
          <a:p>
            <a:pPr indent="0" marL="0">
              <a:buNone/>
            </a:pPr>
            <a:r>
              <a:rPr lang="en-US" sz="1800" b="1" dirty="0">
                <a:solidFill>
                  <a:schemeClr val="tx1"/>
                </a:solidFill>
              </a:rPr>
              <a:t>No guidance</a:t>
            </a:r>
            <a:endParaRPr lang="en-US" sz="1800" dirty="0"/>
          </a:p>
        </p:txBody>
      </p:sp>
      <p:sp>
        <p:nvSpPr>
          <p:cNvPr id="18" name="Problem body 3"/>
          <p:cNvSpPr txBox="1"/>
          <p:nvPr/>
        </p:nvSpPr>
        <p:spPr>
          <a:xfrm>
            <a:off x="6309360" y="2697480"/>
            <a:ext cx="2194560" cy="1051560"/>
          </a:xfrm>
          <a:prstGeom prst="rect">
            <a:avLst/>
          </a:prstGeom>
          <a:noFill/>
          <a:ln/>
        </p:spPr>
        <p:txBody>
          <a:bodyPr wrap="square" lIns="0" tIns="0" rIns="0" bIns="0" rtlCol="0" anchor="t"/>
          <a:lstStyle/>
          <a:p>
            <a:pPr indent="0" marL="0">
              <a:buNone/>
            </a:pPr>
            <a:r>
              <a:rPr lang="en-US" sz="1400" dirty="0">
                <a:solidFill>
                  <a:schemeClr val="tx2"/>
                </a:solidFill>
              </a:rPr>
              <a:t>Students cannot easily see which route is cheapest, fastest, or safest.</a:t>
            </a:r>
            <a:endParaRPr lang="en-US" sz="1400" dirty="0"/>
          </a:p>
        </p:txBody>
      </p:sp>
      <p:sp>
        <p:nvSpPr>
          <p:cNvPr id="19" name="Result banner"/>
          <p:cNvSpPr/>
          <p:nvPr/>
        </p:nvSpPr>
        <p:spPr>
          <a:xfrm>
            <a:off x="457200" y="4023360"/>
            <a:ext cx="8229600" cy="548640"/>
          </a:xfrm>
          <a:prstGeom prst="roundRect">
            <a:avLst>
              <a:gd name="adj" fmla="val 13333"/>
            </a:avLst>
          </a:prstGeom>
          <a:solidFill>
            <a:schemeClr val="tx1"/>
          </a:solidFill>
          <a:ln/>
        </p:spPr>
      </p:sp>
      <p:sp>
        <p:nvSpPr>
          <p:cNvPr id="20" name="Result text"/>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600" b="1" dirty="0">
                <a:solidFill>
                  <a:schemeClr val="bg1"/>
                </a:solidFill>
              </a:rPr>
              <a:t>Result: stress, extra cost, and missed deadlines for students and families.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OUR SOLUTION</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Our Solution: A Safe Tuition Agent</a:t>
            </a:r>
            <a:endParaRPr lang="en-US" sz="3400" dirty="0"/>
          </a:p>
        </p:txBody>
      </p:sp>
      <p:sp>
        <p:nvSpPr>
          <p:cNvPr id="4" name="Solution card 1"/>
          <p:cNvSpPr/>
          <p:nvPr/>
        </p:nvSpPr>
        <p:spPr>
          <a:xfrm>
            <a:off x="457200" y="1325880"/>
            <a:ext cx="4023360" cy="1463040"/>
          </a:xfrm>
          <a:prstGeom prst="roundRect">
            <a:avLst>
              <a:gd name="adj" fmla="val 5000"/>
            </a:avLst>
          </a:prstGeom>
          <a:solidFill>
            <a:schemeClr val="bg2"/>
          </a:solidFill>
          <a:ln/>
          <a:effectLst>
            <a:outerShdw sx="100000" sy="100000" kx="0" ky="0" algn="bl" rotWithShape="0" blurRad="76200" dist="25400" dir="5400000">
              <a:srgbClr val="0B1226">
                <a:alpha val="10000"/>
              </a:srgbClr>
            </a:outerShdw>
          </a:effectLst>
        </p:spPr>
      </p:sp>
      <p:sp>
        <p:nvSpPr>
          <p:cNvPr id="5" name="Solution 1 circle"/>
          <p:cNvSpPr/>
          <p:nvPr/>
        </p:nvSpPr>
        <p:spPr>
          <a:xfrm>
            <a:off x="685800" y="1581912"/>
            <a:ext cx="594360" cy="594360"/>
          </a:xfrm>
          <a:prstGeom prst="ellipse">
            <a:avLst/>
          </a:prstGeom>
          <a:solidFill>
            <a:schemeClr val="accent1"/>
          </a:solidFill>
          <a:ln/>
        </p:spPr>
      </p:sp>
      <p:pic>
        <p:nvPicPr>
          <p:cNvPr id="6" name="Solution 1 icon" descr="preencoded.png">    </p:cNvPr>
          <p:cNvPicPr>
            <a:picLocks noChangeAspect="1"/>
          </p:cNvPicPr>
          <p:nvPr/>
        </p:nvPicPr>
        <p:blipFill>
          <a:blip r:embed="rId1"/>
          <a:stretch>
            <a:fillRect/>
          </a:stretch>
        </p:blipFill>
        <p:spPr>
          <a:xfrm>
            <a:off x="828446" y="1724558"/>
            <a:ext cx="309067" cy="309067"/>
          </a:xfrm>
          <a:prstGeom prst="rect">
            <a:avLst/>
          </a:prstGeom>
        </p:spPr>
      </p:pic>
      <p:sp>
        <p:nvSpPr>
          <p:cNvPr id="7" name="Solution heading 1"/>
          <p:cNvSpPr txBox="1"/>
          <p:nvPr/>
        </p:nvSpPr>
        <p:spPr>
          <a:xfrm>
            <a:off x="1508760" y="1527048"/>
            <a:ext cx="2834640" cy="320040"/>
          </a:xfrm>
          <a:prstGeom prst="rect">
            <a:avLst/>
          </a:prstGeom>
          <a:noFill/>
          <a:ln/>
        </p:spPr>
        <p:txBody>
          <a:bodyPr wrap="square" lIns="0" tIns="0" rIns="0" bIns="0" rtlCol="0" anchor="t"/>
          <a:lstStyle/>
          <a:p>
            <a:pPr indent="0" marL="0">
              <a:buNone/>
            </a:pPr>
            <a:r>
              <a:rPr lang="en-US" sz="1800" b="1" dirty="0">
                <a:solidFill>
                  <a:schemeClr val="tx1"/>
                </a:solidFill>
              </a:rPr>
              <a:t>Route optimization</a:t>
            </a:r>
            <a:endParaRPr lang="en-US" sz="1800" dirty="0"/>
          </a:p>
        </p:txBody>
      </p:sp>
      <p:sp>
        <p:nvSpPr>
          <p:cNvPr id="8" name="Solution body 1"/>
          <p:cNvSpPr txBox="1"/>
          <p:nvPr/>
        </p:nvSpPr>
        <p:spPr>
          <a:xfrm>
            <a:off x="1508760" y="1920240"/>
            <a:ext cx="2834640" cy="777240"/>
          </a:xfrm>
          <a:prstGeom prst="rect">
            <a:avLst/>
          </a:prstGeom>
          <a:noFill/>
          <a:ln/>
        </p:spPr>
        <p:txBody>
          <a:bodyPr wrap="square" lIns="0" tIns="0" rIns="0" bIns="0" rtlCol="0" anchor="t"/>
          <a:lstStyle/>
          <a:p>
            <a:pPr indent="0" marL="0">
              <a:buNone/>
            </a:pPr>
            <a:r>
              <a:rPr lang="en-US" sz="1400" dirty="0">
                <a:solidFill>
                  <a:schemeClr val="tx2"/>
                </a:solidFill>
              </a:rPr>
              <a:t>Scores cost, speed, and reliability together.</a:t>
            </a:r>
            <a:endParaRPr lang="en-US" sz="1400" dirty="0"/>
          </a:p>
        </p:txBody>
      </p:sp>
      <p:sp>
        <p:nvSpPr>
          <p:cNvPr id="9" name="Solution card 2"/>
          <p:cNvSpPr/>
          <p:nvPr/>
        </p:nvSpPr>
        <p:spPr>
          <a:xfrm>
            <a:off x="4663440" y="1325880"/>
            <a:ext cx="4023360" cy="1463040"/>
          </a:xfrm>
          <a:prstGeom prst="roundRect">
            <a:avLst>
              <a:gd name="adj" fmla="val 5000"/>
            </a:avLst>
          </a:prstGeom>
          <a:solidFill>
            <a:schemeClr val="bg2"/>
          </a:solidFill>
          <a:ln/>
          <a:effectLst>
            <a:outerShdw sx="100000" sy="100000" kx="0" ky="0" algn="bl" rotWithShape="0" blurRad="76200" dist="25400" dir="5400000">
              <a:srgbClr val="0B1226">
                <a:alpha val="10000"/>
              </a:srgbClr>
            </a:outerShdw>
          </a:effectLst>
        </p:spPr>
      </p:sp>
      <p:sp>
        <p:nvSpPr>
          <p:cNvPr id="10" name="Solution 2 circle"/>
          <p:cNvSpPr/>
          <p:nvPr/>
        </p:nvSpPr>
        <p:spPr>
          <a:xfrm>
            <a:off x="4892040" y="1581912"/>
            <a:ext cx="594360" cy="594360"/>
          </a:xfrm>
          <a:prstGeom prst="ellipse">
            <a:avLst/>
          </a:prstGeom>
          <a:solidFill>
            <a:schemeClr val="accent3"/>
          </a:solidFill>
          <a:ln/>
        </p:spPr>
      </p:sp>
      <p:pic>
        <p:nvPicPr>
          <p:cNvPr id="11" name="Solution 2 icon" descr="preencoded.png">    </p:cNvPr>
          <p:cNvPicPr>
            <a:picLocks noChangeAspect="1"/>
          </p:cNvPicPr>
          <p:nvPr/>
        </p:nvPicPr>
        <p:blipFill>
          <a:blip r:embed="rId2"/>
          <a:stretch>
            <a:fillRect/>
          </a:stretch>
        </p:blipFill>
        <p:spPr>
          <a:xfrm>
            <a:off x="5034686" y="1724558"/>
            <a:ext cx="309067" cy="309067"/>
          </a:xfrm>
          <a:prstGeom prst="rect">
            <a:avLst/>
          </a:prstGeom>
        </p:spPr>
      </p:pic>
      <p:sp>
        <p:nvSpPr>
          <p:cNvPr id="12" name="Solution heading 2"/>
          <p:cNvSpPr txBox="1"/>
          <p:nvPr/>
        </p:nvSpPr>
        <p:spPr>
          <a:xfrm>
            <a:off x="5715000" y="1527048"/>
            <a:ext cx="2834640" cy="320040"/>
          </a:xfrm>
          <a:prstGeom prst="rect">
            <a:avLst/>
          </a:prstGeom>
          <a:noFill/>
          <a:ln/>
        </p:spPr>
        <p:txBody>
          <a:bodyPr wrap="square" lIns="0" tIns="0" rIns="0" bIns="0" rtlCol="0" anchor="t"/>
          <a:lstStyle/>
          <a:p>
            <a:pPr indent="0" marL="0">
              <a:buNone/>
            </a:pPr>
            <a:r>
              <a:rPr lang="en-US" sz="1800" b="1" dirty="0">
                <a:solidFill>
                  <a:schemeClr val="tx1"/>
                </a:solidFill>
              </a:rPr>
              <a:t>Deadline sentinel</a:t>
            </a:r>
            <a:endParaRPr lang="en-US" sz="1800" dirty="0"/>
          </a:p>
        </p:txBody>
      </p:sp>
      <p:sp>
        <p:nvSpPr>
          <p:cNvPr id="13" name="Solution body 2"/>
          <p:cNvSpPr txBox="1"/>
          <p:nvPr/>
        </p:nvSpPr>
        <p:spPr>
          <a:xfrm>
            <a:off x="5715000" y="1920240"/>
            <a:ext cx="2834640" cy="777240"/>
          </a:xfrm>
          <a:prstGeom prst="rect">
            <a:avLst/>
          </a:prstGeom>
          <a:noFill/>
          <a:ln/>
        </p:spPr>
        <p:txBody>
          <a:bodyPr wrap="square" lIns="0" tIns="0" rIns="0" bIns="0" rtlCol="0" anchor="t"/>
          <a:lstStyle/>
          <a:p>
            <a:pPr indent="0" marL="0">
              <a:buNone/>
            </a:pPr>
            <a:r>
              <a:rPr lang="en-US" sz="1400" dirty="0">
                <a:solidFill>
                  <a:schemeClr val="tx2"/>
                </a:solidFill>
              </a:rPr>
              <a:t>Warns when a route may arrive after the tuition due date.</a:t>
            </a:r>
            <a:endParaRPr lang="en-US" sz="1400" dirty="0"/>
          </a:p>
        </p:txBody>
      </p:sp>
      <p:sp>
        <p:nvSpPr>
          <p:cNvPr id="14" name="Solution card 3"/>
          <p:cNvSpPr/>
          <p:nvPr/>
        </p:nvSpPr>
        <p:spPr>
          <a:xfrm>
            <a:off x="457200" y="2971800"/>
            <a:ext cx="4023360" cy="1463040"/>
          </a:xfrm>
          <a:prstGeom prst="roundRect">
            <a:avLst>
              <a:gd name="adj" fmla="val 5000"/>
            </a:avLst>
          </a:prstGeom>
          <a:solidFill>
            <a:schemeClr val="bg2"/>
          </a:solidFill>
          <a:ln/>
          <a:effectLst>
            <a:outerShdw sx="100000" sy="100000" kx="0" ky="0" algn="bl" rotWithShape="0" blurRad="76200" dist="25400" dir="5400000">
              <a:srgbClr val="0B1226">
                <a:alpha val="10000"/>
              </a:srgbClr>
            </a:outerShdw>
          </a:effectLst>
        </p:spPr>
      </p:sp>
      <p:sp>
        <p:nvSpPr>
          <p:cNvPr id="15" name="Solution 3 circle"/>
          <p:cNvSpPr/>
          <p:nvPr/>
        </p:nvSpPr>
        <p:spPr>
          <a:xfrm>
            <a:off x="685800" y="3227832"/>
            <a:ext cx="594360" cy="594360"/>
          </a:xfrm>
          <a:prstGeom prst="ellipse">
            <a:avLst/>
          </a:prstGeom>
          <a:solidFill>
            <a:schemeClr val="accent4"/>
          </a:solidFill>
          <a:ln/>
        </p:spPr>
      </p:sp>
      <p:pic>
        <p:nvPicPr>
          <p:cNvPr id="16" name="Solution 3 icon" descr="preencoded.png">    </p:cNvPr>
          <p:cNvPicPr>
            <a:picLocks noChangeAspect="1"/>
          </p:cNvPicPr>
          <p:nvPr/>
        </p:nvPicPr>
        <p:blipFill>
          <a:blip r:embed="rId3"/>
          <a:stretch>
            <a:fillRect/>
          </a:stretch>
        </p:blipFill>
        <p:spPr>
          <a:xfrm>
            <a:off x="828446" y="3370478"/>
            <a:ext cx="309067" cy="309067"/>
          </a:xfrm>
          <a:prstGeom prst="rect">
            <a:avLst/>
          </a:prstGeom>
        </p:spPr>
      </p:pic>
      <p:sp>
        <p:nvSpPr>
          <p:cNvPr id="17" name="Solution heading 3"/>
          <p:cNvSpPr txBox="1"/>
          <p:nvPr/>
        </p:nvSpPr>
        <p:spPr>
          <a:xfrm>
            <a:off x="1508760" y="3172968"/>
            <a:ext cx="2834640" cy="320040"/>
          </a:xfrm>
          <a:prstGeom prst="rect">
            <a:avLst/>
          </a:prstGeom>
          <a:noFill/>
          <a:ln/>
        </p:spPr>
        <p:txBody>
          <a:bodyPr wrap="square" lIns="0" tIns="0" rIns="0" bIns="0" rtlCol="0" anchor="t"/>
          <a:lstStyle/>
          <a:p>
            <a:pPr indent="0" marL="0">
              <a:buNone/>
            </a:pPr>
            <a:r>
              <a:rPr lang="en-US" sz="1800" b="1" dirty="0">
                <a:solidFill>
                  <a:schemeClr val="tx1"/>
                </a:solidFill>
              </a:rPr>
              <a:t>Permission tiers</a:t>
            </a:r>
            <a:endParaRPr lang="en-US" sz="1800" dirty="0"/>
          </a:p>
        </p:txBody>
      </p:sp>
      <p:sp>
        <p:nvSpPr>
          <p:cNvPr id="18" name="Solution body 3"/>
          <p:cNvSpPr txBox="1"/>
          <p:nvPr/>
        </p:nvSpPr>
        <p:spPr>
          <a:xfrm>
            <a:off x="1508760" y="3566160"/>
            <a:ext cx="2834640" cy="777240"/>
          </a:xfrm>
          <a:prstGeom prst="rect">
            <a:avLst/>
          </a:prstGeom>
          <a:noFill/>
          <a:ln/>
        </p:spPr>
        <p:txBody>
          <a:bodyPr wrap="square" lIns="0" tIns="0" rIns="0" bIns="0" rtlCol="0" anchor="t"/>
          <a:lstStyle/>
          <a:p>
            <a:pPr indent="0" marL="0">
              <a:buNone/>
            </a:pPr>
            <a:r>
              <a:rPr lang="en-US" sz="1400" dirty="0">
                <a:solidFill>
                  <a:schemeClr val="tx2"/>
                </a:solidFill>
              </a:rPr>
              <a:t>The AI can read and draft. Only the student can approve a payment.</a:t>
            </a:r>
            <a:endParaRPr lang="en-US" sz="1400" dirty="0"/>
          </a:p>
        </p:txBody>
      </p:sp>
      <p:sp>
        <p:nvSpPr>
          <p:cNvPr id="19" name="Solution card 4"/>
          <p:cNvSpPr/>
          <p:nvPr/>
        </p:nvSpPr>
        <p:spPr>
          <a:xfrm>
            <a:off x="4663440" y="2971800"/>
            <a:ext cx="4023360" cy="1463040"/>
          </a:xfrm>
          <a:prstGeom prst="roundRect">
            <a:avLst>
              <a:gd name="adj" fmla="val 5000"/>
            </a:avLst>
          </a:prstGeom>
          <a:solidFill>
            <a:schemeClr val="bg2"/>
          </a:solidFill>
          <a:ln/>
          <a:effectLst>
            <a:outerShdw sx="100000" sy="100000" kx="0" ky="0" algn="bl" rotWithShape="0" blurRad="76200" dist="25400" dir="5400000">
              <a:srgbClr val="0B1226">
                <a:alpha val="10000"/>
              </a:srgbClr>
            </a:outerShdw>
          </a:effectLst>
        </p:spPr>
      </p:sp>
      <p:sp>
        <p:nvSpPr>
          <p:cNvPr id="20" name="Solution 4 circle"/>
          <p:cNvSpPr/>
          <p:nvPr/>
        </p:nvSpPr>
        <p:spPr>
          <a:xfrm>
            <a:off x="4892040" y="3227832"/>
            <a:ext cx="594360" cy="594360"/>
          </a:xfrm>
          <a:prstGeom prst="ellipse">
            <a:avLst/>
          </a:prstGeom>
          <a:solidFill>
            <a:schemeClr val="accent2"/>
          </a:solidFill>
          <a:ln/>
        </p:spPr>
      </p:sp>
      <p:pic>
        <p:nvPicPr>
          <p:cNvPr id="21" name="Solution 4 icon" descr="preencoded.png">    </p:cNvPr>
          <p:cNvPicPr>
            <a:picLocks noChangeAspect="1"/>
          </p:cNvPicPr>
          <p:nvPr/>
        </p:nvPicPr>
        <p:blipFill>
          <a:blip r:embed="rId4"/>
          <a:stretch>
            <a:fillRect/>
          </a:stretch>
        </p:blipFill>
        <p:spPr>
          <a:xfrm>
            <a:off x="5034686" y="3370478"/>
            <a:ext cx="309067" cy="309067"/>
          </a:xfrm>
          <a:prstGeom prst="rect">
            <a:avLst/>
          </a:prstGeom>
        </p:spPr>
      </p:pic>
      <p:sp>
        <p:nvSpPr>
          <p:cNvPr id="22" name="Solution heading 4"/>
          <p:cNvSpPr txBox="1"/>
          <p:nvPr/>
        </p:nvSpPr>
        <p:spPr>
          <a:xfrm>
            <a:off x="5715000" y="3172968"/>
            <a:ext cx="2834640" cy="320040"/>
          </a:xfrm>
          <a:prstGeom prst="rect">
            <a:avLst/>
          </a:prstGeom>
          <a:noFill/>
          <a:ln/>
        </p:spPr>
        <p:txBody>
          <a:bodyPr wrap="square" lIns="0" tIns="0" rIns="0" bIns="0" rtlCol="0" anchor="t"/>
          <a:lstStyle/>
          <a:p>
            <a:pPr indent="0" marL="0">
              <a:buNone/>
            </a:pPr>
            <a:r>
              <a:rPr lang="en-US" sz="1800" b="1" dirty="0">
                <a:solidFill>
                  <a:schemeClr val="tx1"/>
                </a:solidFill>
              </a:rPr>
              <a:t>Explainable choices</a:t>
            </a:r>
            <a:endParaRPr lang="en-US" sz="1800" dirty="0"/>
          </a:p>
        </p:txBody>
      </p:sp>
      <p:sp>
        <p:nvSpPr>
          <p:cNvPr id="23" name="Solution body 4"/>
          <p:cNvSpPr txBox="1"/>
          <p:nvPr/>
        </p:nvSpPr>
        <p:spPr>
          <a:xfrm>
            <a:off x="5715000" y="3566160"/>
            <a:ext cx="2834640" cy="777240"/>
          </a:xfrm>
          <a:prstGeom prst="rect">
            <a:avLst/>
          </a:prstGeom>
          <a:noFill/>
          <a:ln/>
        </p:spPr>
        <p:txBody>
          <a:bodyPr wrap="square" lIns="0" tIns="0" rIns="0" bIns="0" rtlCol="0" anchor="t"/>
          <a:lstStyle/>
          <a:p>
            <a:pPr indent="0" marL="0">
              <a:buNone/>
            </a:pPr>
            <a:r>
              <a:rPr lang="en-US" sz="1400" dirty="0">
                <a:solidFill>
                  <a:schemeClr val="tx2"/>
                </a:solidFill>
              </a:rPr>
              <a:t>Shows why a route won, with weights of 50 / 30 / 20.</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ARCHITECTURE</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Architecture &amp; Tech Stack</a:t>
            </a:r>
            <a:endParaRPr lang="en-US" sz="3400" dirty="0"/>
          </a:p>
        </p:txBody>
      </p:sp>
      <p:sp>
        <p:nvSpPr>
          <p:cNvPr id="4" name="Stack box 1"/>
          <p:cNvSpPr/>
          <p:nvPr/>
        </p:nvSpPr>
        <p:spPr>
          <a:xfrm>
            <a:off x="457200" y="1280160"/>
            <a:ext cx="2377440" cy="1600200"/>
          </a:xfrm>
          <a:prstGeom prst="roundRect">
            <a:avLst>
              <a:gd name="adj" fmla="val 4571"/>
            </a:avLst>
          </a:prstGeom>
          <a:solidFill>
            <a:schemeClr val="bg2"/>
          </a:solidFill>
          <a:ln/>
          <a:effectLst>
            <a:outerShdw sx="100000" sy="100000" kx="0" ky="0" algn="bl" rotWithShape="0" blurRad="76200" dist="25400" dir="5400000">
              <a:srgbClr val="0B1226">
                <a:alpha val="10000"/>
              </a:srgbClr>
            </a:outerShdw>
          </a:effectLst>
        </p:spPr>
      </p:sp>
      <p:sp>
        <p:nvSpPr>
          <p:cNvPr id="5" name="Stack 1 circle"/>
          <p:cNvSpPr/>
          <p:nvPr/>
        </p:nvSpPr>
        <p:spPr>
          <a:xfrm>
            <a:off x="640080" y="1444752"/>
            <a:ext cx="457200" cy="457200"/>
          </a:xfrm>
          <a:prstGeom prst="ellipse">
            <a:avLst/>
          </a:prstGeom>
          <a:solidFill>
            <a:schemeClr val="accent2"/>
          </a:solidFill>
          <a:ln/>
        </p:spPr>
      </p:sp>
      <p:pic>
        <p:nvPicPr>
          <p:cNvPr id="6" name="Stack 1 icon" descr="preencoded.png">    </p:cNvPr>
          <p:cNvPicPr>
            <a:picLocks noChangeAspect="1"/>
          </p:cNvPicPr>
          <p:nvPr/>
        </p:nvPicPr>
        <p:blipFill>
          <a:blip r:embed="rId1"/>
          <a:stretch>
            <a:fillRect/>
          </a:stretch>
        </p:blipFill>
        <p:spPr>
          <a:xfrm>
            <a:off x="749808" y="1554480"/>
            <a:ext cx="237744" cy="237744"/>
          </a:xfrm>
          <a:prstGeom prst="rect">
            <a:avLst/>
          </a:prstGeom>
        </p:spPr>
      </p:pic>
      <p:sp>
        <p:nvSpPr>
          <p:cNvPr id="7" name="Stack title 1"/>
          <p:cNvSpPr txBox="1"/>
          <p:nvPr/>
        </p:nvSpPr>
        <p:spPr>
          <a:xfrm>
            <a:off x="1234440" y="1444752"/>
            <a:ext cx="1508760" cy="457200"/>
          </a:xfrm>
          <a:prstGeom prst="rect">
            <a:avLst/>
          </a:prstGeom>
          <a:noFill/>
          <a:ln/>
        </p:spPr>
        <p:txBody>
          <a:bodyPr wrap="square" lIns="0" tIns="0" rIns="0" bIns="0" rtlCol="0" anchor="ctr"/>
          <a:lstStyle/>
          <a:p>
            <a:pPr indent="0" marL="0">
              <a:buNone/>
            </a:pPr>
            <a:r>
              <a:rPr lang="en-US" sz="1600" b="1" dirty="0">
                <a:solidFill>
                  <a:schemeClr val="tx1"/>
                </a:solidFill>
              </a:rPr>
              <a:t>Next.js 14</a:t>
            </a:r>
            <a:endParaRPr lang="en-US" sz="1600" dirty="0"/>
          </a:p>
        </p:txBody>
      </p:sp>
      <p:sp>
        <p:nvSpPr>
          <p:cNvPr id="8" name="Stack list 1"/>
          <p:cNvSpPr txBox="1"/>
          <p:nvPr/>
        </p:nvSpPr>
        <p:spPr>
          <a:xfrm>
            <a:off x="685800" y="2011680"/>
            <a:ext cx="2011680" cy="777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2"/>
                </a:solidFill>
              </a:rPr>
              <a:t>Chat &amp; dashboard</a:t>
            </a:r>
            <a:endParaRPr lang="en-US" sz="1400" dirty="0"/>
          </a:p>
          <a:p>
            <a:pPr marL="342900" indent="-342900">
              <a:spcAft>
                <a:spcPts val="200"/>
              </a:spcAft>
              <a:buSzPct val="100000"/>
              <a:buChar char="•"/>
            </a:pPr>
            <a:r>
              <a:rPr lang="en-US" sz="1400" dirty="0">
                <a:solidFill>
                  <a:schemeClr val="tx2"/>
                </a:solidFill>
              </a:rPr>
              <a:t>Audit viewer</a:t>
            </a:r>
            <a:endParaRPr lang="en-US" sz="1400" dirty="0"/>
          </a:p>
          <a:p>
            <a:pPr marL="342900" indent="-342900">
              <a:spcAft>
                <a:spcPts val="200"/>
              </a:spcAft>
              <a:buSzPct val="100000"/>
              <a:buChar char="•"/>
            </a:pPr>
            <a:r>
              <a:rPr lang="en-US" sz="1400" dirty="0">
                <a:solidFill>
                  <a:schemeClr val="tx2"/>
                </a:solidFill>
              </a:rPr>
              <a:t>Login</a:t>
            </a:r>
            <a:endParaRPr lang="en-US" sz="1400" dirty="0"/>
          </a:p>
        </p:txBody>
      </p:sp>
      <p:sp>
        <p:nvSpPr>
          <p:cNvPr id="9" name="Arrow 1"/>
          <p:cNvSpPr/>
          <p:nvPr/>
        </p:nvSpPr>
        <p:spPr>
          <a:xfrm>
            <a:off x="2880360" y="2075688"/>
            <a:ext cx="457200" cy="0"/>
          </a:xfrm>
          <a:prstGeom prst="line">
            <a:avLst/>
          </a:prstGeom>
          <a:noFill/>
          <a:ln w="25400">
            <a:solidFill>
              <a:srgbClr val="475569"/>
            </a:solidFill>
            <a:prstDash val="solid"/>
            <a:tailEnd type="triangle"/>
          </a:ln>
        </p:spPr>
      </p:sp>
      <p:sp>
        <p:nvSpPr>
          <p:cNvPr id="10" name="Stack box 2"/>
          <p:cNvSpPr/>
          <p:nvPr/>
        </p:nvSpPr>
        <p:spPr>
          <a:xfrm>
            <a:off x="3383280" y="1280160"/>
            <a:ext cx="2377440" cy="1600200"/>
          </a:xfrm>
          <a:prstGeom prst="roundRect">
            <a:avLst>
              <a:gd name="adj" fmla="val 4571"/>
            </a:avLst>
          </a:prstGeom>
          <a:solidFill>
            <a:schemeClr val="bg2"/>
          </a:solidFill>
          <a:ln/>
          <a:effectLst>
            <a:outerShdw sx="100000" sy="100000" kx="0" ky="0" algn="bl" rotWithShape="0" blurRad="76200" dist="25400" dir="5400000">
              <a:srgbClr val="0B1226">
                <a:alpha val="10000"/>
              </a:srgbClr>
            </a:outerShdw>
          </a:effectLst>
        </p:spPr>
      </p:sp>
      <p:sp>
        <p:nvSpPr>
          <p:cNvPr id="11" name="Stack 2 circle"/>
          <p:cNvSpPr/>
          <p:nvPr/>
        </p:nvSpPr>
        <p:spPr>
          <a:xfrm>
            <a:off x="3566160" y="1444752"/>
            <a:ext cx="457200" cy="457200"/>
          </a:xfrm>
          <a:prstGeom prst="ellipse">
            <a:avLst/>
          </a:prstGeom>
          <a:solidFill>
            <a:schemeClr val="accent1"/>
          </a:solidFill>
          <a:ln/>
        </p:spPr>
      </p:sp>
      <p:pic>
        <p:nvPicPr>
          <p:cNvPr id="12" name="Stack 2 icon" descr="preencoded.png">    </p:cNvPr>
          <p:cNvPicPr>
            <a:picLocks noChangeAspect="1"/>
          </p:cNvPicPr>
          <p:nvPr/>
        </p:nvPicPr>
        <p:blipFill>
          <a:blip r:embed="rId2"/>
          <a:stretch>
            <a:fillRect/>
          </a:stretch>
        </p:blipFill>
        <p:spPr>
          <a:xfrm>
            <a:off x="3675888" y="1554480"/>
            <a:ext cx="237744" cy="237744"/>
          </a:xfrm>
          <a:prstGeom prst="rect">
            <a:avLst/>
          </a:prstGeom>
        </p:spPr>
      </p:pic>
      <p:sp>
        <p:nvSpPr>
          <p:cNvPr id="13" name="Stack title 2"/>
          <p:cNvSpPr txBox="1"/>
          <p:nvPr/>
        </p:nvSpPr>
        <p:spPr>
          <a:xfrm>
            <a:off x="4160520" y="1444752"/>
            <a:ext cx="1508760" cy="457200"/>
          </a:xfrm>
          <a:prstGeom prst="rect">
            <a:avLst/>
          </a:prstGeom>
          <a:noFill/>
          <a:ln/>
        </p:spPr>
        <p:txBody>
          <a:bodyPr wrap="square" lIns="0" tIns="0" rIns="0" bIns="0" rtlCol="0" anchor="ctr"/>
          <a:lstStyle/>
          <a:p>
            <a:pPr indent="0" marL="0">
              <a:buNone/>
            </a:pPr>
            <a:r>
              <a:rPr lang="en-US" sz="1600" b="1" dirty="0">
                <a:solidFill>
                  <a:schemeClr val="tx1"/>
                </a:solidFill>
              </a:rPr>
              <a:t>NestJS API</a:t>
            </a:r>
            <a:endParaRPr lang="en-US" sz="1600" dirty="0"/>
          </a:p>
        </p:txBody>
      </p:sp>
      <p:sp>
        <p:nvSpPr>
          <p:cNvPr id="14" name="Stack list 2"/>
          <p:cNvSpPr txBox="1"/>
          <p:nvPr/>
        </p:nvSpPr>
        <p:spPr>
          <a:xfrm>
            <a:off x="3611880" y="2011680"/>
            <a:ext cx="2011680" cy="777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2"/>
                </a:solidFill>
              </a:rPr>
              <a:t>Permission guards</a:t>
            </a:r>
            <a:endParaRPr lang="en-US" sz="1400" dirty="0"/>
          </a:p>
          <a:p>
            <a:pPr marL="342900" indent="-342900">
              <a:spcAft>
                <a:spcPts val="200"/>
              </a:spcAft>
              <a:buSzPct val="100000"/>
              <a:buChar char="•"/>
            </a:pPr>
            <a:r>
              <a:rPr lang="en-US" sz="1400" dirty="0">
                <a:solidFill>
                  <a:schemeClr val="tx2"/>
                </a:solidFill>
              </a:rPr>
              <a:t>Safety rules</a:t>
            </a:r>
            <a:endParaRPr lang="en-US" sz="1400" dirty="0"/>
          </a:p>
          <a:p>
            <a:pPr marL="342900" indent="-342900">
              <a:spcAft>
                <a:spcPts val="200"/>
              </a:spcAft>
              <a:buSzPct val="100000"/>
              <a:buChar char="•"/>
            </a:pPr>
            <a:r>
              <a:rPr lang="en-US" sz="1400" dirty="0">
                <a:solidFill>
                  <a:schemeClr val="tx2"/>
                </a:solidFill>
              </a:rPr>
              <a:t>Agent tools</a:t>
            </a:r>
            <a:endParaRPr lang="en-US" sz="1400" dirty="0"/>
          </a:p>
        </p:txBody>
      </p:sp>
      <p:sp>
        <p:nvSpPr>
          <p:cNvPr id="15" name="Arrow 2"/>
          <p:cNvSpPr/>
          <p:nvPr/>
        </p:nvSpPr>
        <p:spPr>
          <a:xfrm>
            <a:off x="5806440" y="2075688"/>
            <a:ext cx="457200" cy="0"/>
          </a:xfrm>
          <a:prstGeom prst="line">
            <a:avLst/>
          </a:prstGeom>
          <a:noFill/>
          <a:ln w="25400">
            <a:solidFill>
              <a:srgbClr val="475569"/>
            </a:solidFill>
            <a:prstDash val="solid"/>
            <a:tailEnd type="triangle"/>
          </a:ln>
        </p:spPr>
      </p:sp>
      <p:sp>
        <p:nvSpPr>
          <p:cNvPr id="16" name="Stack box 3"/>
          <p:cNvSpPr/>
          <p:nvPr/>
        </p:nvSpPr>
        <p:spPr>
          <a:xfrm>
            <a:off x="6309360" y="1280160"/>
            <a:ext cx="2377440" cy="1600200"/>
          </a:xfrm>
          <a:prstGeom prst="roundRect">
            <a:avLst>
              <a:gd name="adj" fmla="val 4571"/>
            </a:avLst>
          </a:prstGeom>
          <a:solidFill>
            <a:schemeClr val="bg2"/>
          </a:solidFill>
          <a:ln/>
          <a:effectLst>
            <a:outerShdw sx="100000" sy="100000" kx="0" ky="0" algn="bl" rotWithShape="0" blurRad="76200" dist="25400" dir="5400000">
              <a:srgbClr val="0B1226">
                <a:alpha val="10000"/>
              </a:srgbClr>
            </a:outerShdw>
          </a:effectLst>
        </p:spPr>
      </p:sp>
      <p:sp>
        <p:nvSpPr>
          <p:cNvPr id="17" name="Stack 3 circle"/>
          <p:cNvSpPr/>
          <p:nvPr/>
        </p:nvSpPr>
        <p:spPr>
          <a:xfrm>
            <a:off x="6492240" y="1444752"/>
            <a:ext cx="457200" cy="457200"/>
          </a:xfrm>
          <a:prstGeom prst="ellipse">
            <a:avLst/>
          </a:prstGeom>
          <a:solidFill>
            <a:schemeClr val="accent5"/>
          </a:solidFill>
          <a:ln/>
        </p:spPr>
      </p:sp>
      <p:pic>
        <p:nvPicPr>
          <p:cNvPr id="18" name="Stack 3 icon" descr="preencoded.png">    </p:cNvPr>
          <p:cNvPicPr>
            <a:picLocks noChangeAspect="1"/>
          </p:cNvPicPr>
          <p:nvPr/>
        </p:nvPicPr>
        <p:blipFill>
          <a:blip r:embed="rId3"/>
          <a:stretch>
            <a:fillRect/>
          </a:stretch>
        </p:blipFill>
        <p:spPr>
          <a:xfrm>
            <a:off x="6601968" y="1554480"/>
            <a:ext cx="237744" cy="237744"/>
          </a:xfrm>
          <a:prstGeom prst="rect">
            <a:avLst/>
          </a:prstGeom>
        </p:spPr>
      </p:pic>
      <p:sp>
        <p:nvSpPr>
          <p:cNvPr id="19" name="Stack title 3"/>
          <p:cNvSpPr txBox="1"/>
          <p:nvPr/>
        </p:nvSpPr>
        <p:spPr>
          <a:xfrm>
            <a:off x="7086600" y="1444752"/>
            <a:ext cx="1508760" cy="457200"/>
          </a:xfrm>
          <a:prstGeom prst="rect">
            <a:avLst/>
          </a:prstGeom>
          <a:noFill/>
          <a:ln/>
        </p:spPr>
        <p:txBody>
          <a:bodyPr wrap="square" lIns="0" tIns="0" rIns="0" bIns="0" rtlCol="0" anchor="ctr"/>
          <a:lstStyle/>
          <a:p>
            <a:pPr indent="0" marL="0">
              <a:buNone/>
            </a:pPr>
            <a:r>
              <a:rPr lang="en-US" sz="1600" b="1" dirty="0">
                <a:solidFill>
                  <a:schemeClr val="tx1"/>
                </a:solidFill>
              </a:rPr>
              <a:t>PostgreSQL</a:t>
            </a:r>
            <a:endParaRPr lang="en-US" sz="1600" dirty="0"/>
          </a:p>
        </p:txBody>
      </p:sp>
      <p:sp>
        <p:nvSpPr>
          <p:cNvPr id="20" name="Stack list 3"/>
          <p:cNvSpPr txBox="1"/>
          <p:nvPr/>
        </p:nvSpPr>
        <p:spPr>
          <a:xfrm>
            <a:off x="6537960" y="2011680"/>
            <a:ext cx="2011680" cy="777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2"/>
                </a:solidFill>
              </a:rPr>
              <a:t>accounts, rates</a:t>
            </a:r>
            <a:endParaRPr lang="en-US" sz="1400" dirty="0"/>
          </a:p>
          <a:p>
            <a:pPr marL="342900" indent="-342900">
              <a:spcAft>
                <a:spcPts val="200"/>
              </a:spcAft>
              <a:buSzPct val="100000"/>
              <a:buChar char="•"/>
            </a:pPr>
            <a:r>
              <a:rPr lang="en-US" sz="1400" dirty="0">
                <a:solidFill>
                  <a:schemeClr val="tx2"/>
                </a:solidFill>
              </a:rPr>
              <a:t>transfers</a:t>
            </a:r>
            <a:endParaRPr lang="en-US" sz="1400" dirty="0"/>
          </a:p>
          <a:p>
            <a:pPr marL="342900" indent="-342900">
              <a:spcAft>
                <a:spcPts val="200"/>
              </a:spcAft>
              <a:buSzPct val="100000"/>
              <a:buChar char="•"/>
            </a:pPr>
            <a:r>
              <a:rPr lang="en-US" sz="1400" dirty="0">
                <a:solidFill>
                  <a:schemeClr val="tx2"/>
                </a:solidFill>
              </a:rPr>
              <a:t>audit_log</a:t>
            </a:r>
            <a:endParaRPr lang="en-US" sz="1400" dirty="0"/>
          </a:p>
        </p:txBody>
      </p:sp>
      <p:sp>
        <p:nvSpPr>
          <p:cNvPr id="21" name="LLM box"/>
          <p:cNvSpPr/>
          <p:nvPr/>
        </p:nvSpPr>
        <p:spPr>
          <a:xfrm>
            <a:off x="3383280" y="3246120"/>
            <a:ext cx="2377440" cy="731520"/>
          </a:xfrm>
          <a:prstGeom prst="roundRect">
            <a:avLst>
              <a:gd name="adj" fmla="val 10000"/>
            </a:avLst>
          </a:prstGeom>
          <a:solidFill>
            <a:schemeClr val="bg2"/>
          </a:solidFill>
          <a:ln/>
          <a:effectLst>
            <a:outerShdw sx="100000" sy="100000" kx="0" ky="0" algn="bl" rotWithShape="0" blurRad="76200" dist="25400" dir="5400000">
              <a:srgbClr val="0B1226">
                <a:alpha val="10000"/>
              </a:srgbClr>
            </a:outerShdw>
          </a:effectLst>
        </p:spPr>
      </p:sp>
      <p:sp>
        <p:nvSpPr>
          <p:cNvPr id="22" name="LLM circle"/>
          <p:cNvSpPr/>
          <p:nvPr/>
        </p:nvSpPr>
        <p:spPr>
          <a:xfrm>
            <a:off x="3566160" y="3383280"/>
            <a:ext cx="457200" cy="457200"/>
          </a:xfrm>
          <a:prstGeom prst="ellipse">
            <a:avLst/>
          </a:prstGeom>
          <a:solidFill>
            <a:schemeClr val="accent3"/>
          </a:solidFill>
          <a:ln/>
        </p:spPr>
      </p:sp>
      <p:pic>
        <p:nvPicPr>
          <p:cNvPr id="23" name="LLM icon" descr="preencoded.png">    </p:cNvPr>
          <p:cNvPicPr>
            <a:picLocks noChangeAspect="1"/>
          </p:cNvPicPr>
          <p:nvPr/>
        </p:nvPicPr>
        <p:blipFill>
          <a:blip r:embed="rId4"/>
          <a:stretch>
            <a:fillRect/>
          </a:stretch>
        </p:blipFill>
        <p:spPr>
          <a:xfrm>
            <a:off x="3675888" y="3493008"/>
            <a:ext cx="237744" cy="237744"/>
          </a:xfrm>
          <a:prstGeom prst="rect">
            <a:avLst/>
          </a:prstGeom>
        </p:spPr>
      </p:pic>
      <p:sp>
        <p:nvSpPr>
          <p:cNvPr id="24" name="LLM text"/>
          <p:cNvSpPr txBox="1"/>
          <p:nvPr/>
        </p:nvSpPr>
        <p:spPr>
          <a:xfrm>
            <a:off x="4160520" y="3246120"/>
            <a:ext cx="1600200" cy="731520"/>
          </a:xfrm>
          <a:prstGeom prst="rect">
            <a:avLst/>
          </a:prstGeom>
          <a:noFill/>
          <a:ln/>
        </p:spPr>
        <p:txBody>
          <a:bodyPr wrap="square" lIns="0" tIns="0" rIns="0" bIns="0" rtlCol="0" anchor="ctr"/>
          <a:lstStyle/>
          <a:p>
            <a:pPr indent="0" marL="0">
              <a:buNone/>
            </a:pPr>
            <a:r>
              <a:rPr lang="en-US" sz="1600" b="1" dirty="0">
                <a:solidFill>
                  <a:schemeClr val="tx1"/>
                </a:solidFill>
              </a:rPr>
              <a:t>LLM agent</a:t>
            </a:r>
            <a:endParaRPr lang="en-US" sz="1600" dirty="0"/>
          </a:p>
          <a:p>
            <a:pPr indent="0" marL="0">
              <a:buNone/>
            </a:pPr>
            <a:r>
              <a:rPr lang="en-US" sz="1200" dirty="0">
                <a:solidFill>
                  <a:schemeClr val="tx2"/>
                </a:solidFill>
              </a:rPr>
              <a:t>Gemini or offline sandbox</a:t>
            </a:r>
            <a:endParaRPr lang="en-US" sz="1600" dirty="0"/>
          </a:p>
        </p:txBody>
      </p:sp>
      <p:sp>
        <p:nvSpPr>
          <p:cNvPr id="25" name="LLM link"/>
          <p:cNvSpPr/>
          <p:nvPr/>
        </p:nvSpPr>
        <p:spPr>
          <a:xfrm>
            <a:off x="4572000" y="2880360"/>
            <a:ext cx="0" cy="365760"/>
          </a:xfrm>
          <a:prstGeom prst="line">
            <a:avLst/>
          </a:prstGeom>
          <a:noFill/>
          <a:ln w="25400">
            <a:solidFill>
              <a:srgbClr val="475569"/>
            </a:solidFill>
            <a:prstDash val="solid"/>
            <a:headEnd type="triangle"/>
            <a:tailEnd type="triangle"/>
          </a:ln>
        </p:spPr>
      </p:sp>
      <p:sp>
        <p:nvSpPr>
          <p:cNvPr id="26" name="Tech chip 1"/>
          <p:cNvSpPr/>
          <p:nvPr/>
        </p:nvSpPr>
        <p:spPr>
          <a:xfrm>
            <a:off x="457200" y="4206240"/>
            <a:ext cx="1920240" cy="365760"/>
          </a:xfrm>
          <a:prstGeom prst="roundRect">
            <a:avLst>
              <a:gd name="adj" fmla="val 50000"/>
            </a:avLst>
          </a:prstGeom>
          <a:solidFill>
            <a:schemeClr val="tx1"/>
          </a:solidFill>
          <a:ln/>
        </p:spPr>
      </p:sp>
      <p:sp>
        <p:nvSpPr>
          <p:cNvPr id="27" name="Tech chip text 1"/>
          <p:cNvSpPr txBox="1"/>
          <p:nvPr/>
        </p:nvSpPr>
        <p:spPr>
          <a:xfrm>
            <a:off x="457200" y="4206240"/>
            <a:ext cx="1920240" cy="365760"/>
          </a:xfrm>
          <a:prstGeom prst="rect">
            <a:avLst/>
          </a:prstGeom>
          <a:noFill/>
          <a:ln/>
        </p:spPr>
        <p:txBody>
          <a:bodyPr wrap="square" lIns="0" tIns="0" rIns="0" bIns="0" rtlCol="0" anchor="ctr"/>
          <a:lstStyle/>
          <a:p>
            <a:pPr algn="ctr" indent="0" marL="0">
              <a:buNone/>
            </a:pPr>
            <a:r>
              <a:rPr lang="en-US" sz="1200" b="1" dirty="0">
                <a:solidFill>
                  <a:schemeClr val="bg1"/>
                </a:solidFill>
              </a:rPr>
              <a:t>Docker Compose run</a:t>
            </a:r>
            <a:endParaRPr lang="en-US" sz="1200" dirty="0"/>
          </a:p>
        </p:txBody>
      </p:sp>
      <p:sp>
        <p:nvSpPr>
          <p:cNvPr id="28" name="Tech chip 2"/>
          <p:cNvSpPr/>
          <p:nvPr/>
        </p:nvSpPr>
        <p:spPr>
          <a:xfrm>
            <a:off x="2560320" y="4206240"/>
            <a:ext cx="1920240" cy="365760"/>
          </a:xfrm>
          <a:prstGeom prst="roundRect">
            <a:avLst>
              <a:gd name="adj" fmla="val 50000"/>
            </a:avLst>
          </a:prstGeom>
          <a:solidFill>
            <a:schemeClr val="tx1"/>
          </a:solidFill>
          <a:ln/>
        </p:spPr>
      </p:sp>
      <p:sp>
        <p:nvSpPr>
          <p:cNvPr id="29" name="Tech chip text 2"/>
          <p:cNvSpPr txBox="1"/>
          <p:nvPr/>
        </p:nvSpPr>
        <p:spPr>
          <a:xfrm>
            <a:off x="2560320" y="4206240"/>
            <a:ext cx="1920240" cy="365760"/>
          </a:xfrm>
          <a:prstGeom prst="rect">
            <a:avLst/>
          </a:prstGeom>
          <a:noFill/>
          <a:ln/>
        </p:spPr>
        <p:txBody>
          <a:bodyPr wrap="square" lIns="0" tIns="0" rIns="0" bIns="0" rtlCol="0" anchor="ctr"/>
          <a:lstStyle/>
          <a:p>
            <a:pPr algn="ctr" indent="0" marL="0">
              <a:buNone/>
            </a:pPr>
            <a:r>
              <a:rPr lang="en-US" sz="1200" b="1" dirty="0">
                <a:solidFill>
                  <a:schemeClr val="bg1"/>
                </a:solidFill>
              </a:rPr>
              <a:t>GitHub Actions CI</a:t>
            </a:r>
            <a:endParaRPr lang="en-US" sz="1200" dirty="0"/>
          </a:p>
        </p:txBody>
      </p:sp>
      <p:sp>
        <p:nvSpPr>
          <p:cNvPr id="30" name="Tech chip 3"/>
          <p:cNvSpPr/>
          <p:nvPr/>
        </p:nvSpPr>
        <p:spPr>
          <a:xfrm>
            <a:off x="4663440" y="4206240"/>
            <a:ext cx="1920240" cy="365760"/>
          </a:xfrm>
          <a:prstGeom prst="roundRect">
            <a:avLst>
              <a:gd name="adj" fmla="val 50000"/>
            </a:avLst>
          </a:prstGeom>
          <a:solidFill>
            <a:schemeClr val="tx1"/>
          </a:solidFill>
          <a:ln/>
        </p:spPr>
      </p:sp>
      <p:sp>
        <p:nvSpPr>
          <p:cNvPr id="31" name="Tech chip text 3"/>
          <p:cNvSpPr txBox="1"/>
          <p:nvPr/>
        </p:nvSpPr>
        <p:spPr>
          <a:xfrm>
            <a:off x="4663440" y="4206240"/>
            <a:ext cx="1920240" cy="365760"/>
          </a:xfrm>
          <a:prstGeom prst="rect">
            <a:avLst/>
          </a:prstGeom>
          <a:noFill/>
          <a:ln/>
        </p:spPr>
        <p:txBody>
          <a:bodyPr wrap="square" lIns="0" tIns="0" rIns="0" bIns="0" rtlCol="0" anchor="ctr"/>
          <a:lstStyle/>
          <a:p>
            <a:pPr algn="ctr" indent="0" marL="0">
              <a:buNone/>
            </a:pPr>
            <a:r>
              <a:rPr lang="en-US" sz="1200" b="1" dirty="0">
                <a:solidFill>
                  <a:schemeClr val="bg1"/>
                </a:solidFill>
              </a:rPr>
              <a:t>Zod validation</a:t>
            </a:r>
            <a:endParaRPr lang="en-US" sz="1200" dirty="0"/>
          </a:p>
        </p:txBody>
      </p:sp>
      <p:sp>
        <p:nvSpPr>
          <p:cNvPr id="32" name="Tech chip 4"/>
          <p:cNvSpPr/>
          <p:nvPr/>
        </p:nvSpPr>
        <p:spPr>
          <a:xfrm>
            <a:off x="6766560" y="4206240"/>
            <a:ext cx="1920240" cy="365760"/>
          </a:xfrm>
          <a:prstGeom prst="roundRect">
            <a:avLst>
              <a:gd name="adj" fmla="val 50000"/>
            </a:avLst>
          </a:prstGeom>
          <a:solidFill>
            <a:schemeClr val="tx1"/>
          </a:solidFill>
          <a:ln/>
        </p:spPr>
      </p:sp>
      <p:sp>
        <p:nvSpPr>
          <p:cNvPr id="33" name="Tech chip text 4"/>
          <p:cNvSpPr txBox="1"/>
          <p:nvPr/>
        </p:nvSpPr>
        <p:spPr>
          <a:xfrm>
            <a:off x="6766560" y="4206240"/>
            <a:ext cx="1920240" cy="365760"/>
          </a:xfrm>
          <a:prstGeom prst="rect">
            <a:avLst/>
          </a:prstGeom>
          <a:noFill/>
          <a:ln/>
        </p:spPr>
        <p:txBody>
          <a:bodyPr wrap="square" lIns="0" tIns="0" rIns="0" bIns="0" rtlCol="0" anchor="ctr"/>
          <a:lstStyle/>
          <a:p>
            <a:pPr algn="ctr" indent="0" marL="0">
              <a:buNone/>
            </a:pPr>
            <a:r>
              <a:rPr lang="en-US" sz="1200" b="1" dirty="0">
                <a:solidFill>
                  <a:schemeClr val="bg1"/>
                </a:solidFill>
              </a:rPr>
              <a:t>80 Jest tests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SECURITY  |  30% OF SCORE</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Three Permission Tiers</a:t>
            </a:r>
            <a:endParaRPr lang="en-US" sz="3400" dirty="0"/>
          </a:p>
        </p:txBody>
      </p:sp>
      <p:sp>
        <p:nvSpPr>
          <p:cNvPr id="4" name="Tier card 1"/>
          <p:cNvSpPr/>
          <p:nvPr/>
        </p:nvSpPr>
        <p:spPr>
          <a:xfrm>
            <a:off x="457200" y="1280160"/>
            <a:ext cx="2606040" cy="2377440"/>
          </a:xfrm>
          <a:prstGeom prst="roundRect">
            <a:avLst>
              <a:gd name="adj" fmla="val 3077"/>
            </a:avLst>
          </a:prstGeom>
          <a:solidFill>
            <a:schemeClr val="bg2"/>
          </a:solidFill>
          <a:ln/>
          <a:effectLst>
            <a:outerShdw sx="100000" sy="100000" kx="0" ky="0" algn="bl" rotWithShape="0" blurRad="76200" dist="25400" dir="5400000">
              <a:srgbClr val="0B1226">
                <a:alpha val="10000"/>
              </a:srgbClr>
            </a:outerShdw>
          </a:effectLst>
        </p:spPr>
      </p:sp>
      <p:sp>
        <p:nvSpPr>
          <p:cNvPr id="5" name="Tier 1 circle"/>
          <p:cNvSpPr/>
          <p:nvPr/>
        </p:nvSpPr>
        <p:spPr>
          <a:xfrm>
            <a:off x="685800" y="1481328"/>
            <a:ext cx="548640" cy="548640"/>
          </a:xfrm>
          <a:prstGeom prst="ellipse">
            <a:avLst/>
          </a:prstGeom>
          <a:solidFill>
            <a:schemeClr val="accent5"/>
          </a:solidFill>
          <a:ln/>
        </p:spPr>
      </p:sp>
      <p:pic>
        <p:nvPicPr>
          <p:cNvPr id="6" name="Tier 1 icon" descr="preencoded.png">    </p:cNvPr>
          <p:cNvPicPr>
            <a:picLocks noChangeAspect="1"/>
          </p:cNvPicPr>
          <p:nvPr/>
        </p:nvPicPr>
        <p:blipFill>
          <a:blip r:embed="rId1"/>
          <a:stretch>
            <a:fillRect/>
          </a:stretch>
        </p:blipFill>
        <p:spPr>
          <a:xfrm>
            <a:off x="817474" y="1613002"/>
            <a:ext cx="285293" cy="285293"/>
          </a:xfrm>
          <a:prstGeom prst="rect">
            <a:avLst/>
          </a:prstGeom>
        </p:spPr>
      </p:pic>
      <p:sp>
        <p:nvSpPr>
          <p:cNvPr id="7" name="Tier title 1"/>
          <p:cNvSpPr txBox="1"/>
          <p:nvPr/>
        </p:nvSpPr>
        <p:spPr>
          <a:xfrm>
            <a:off x="1371600" y="1463040"/>
            <a:ext cx="1600200" cy="594360"/>
          </a:xfrm>
          <a:prstGeom prst="rect">
            <a:avLst/>
          </a:prstGeom>
          <a:noFill/>
          <a:ln/>
        </p:spPr>
        <p:txBody>
          <a:bodyPr wrap="square" lIns="0" tIns="0" rIns="0" bIns="0" rtlCol="0" anchor="ctr"/>
          <a:lstStyle/>
          <a:p>
            <a:pPr indent="0" marL="0">
              <a:buNone/>
            </a:pPr>
            <a:r>
              <a:rPr lang="en-US" sz="1800" b="1" dirty="0">
                <a:solidFill>
                  <a:schemeClr val="tx1"/>
                </a:solidFill>
              </a:rPr>
              <a:t>READ_ONLY</a:t>
            </a:r>
            <a:endParaRPr lang="en-US" sz="1800" dirty="0"/>
          </a:p>
          <a:p>
            <a:pPr indent="0" marL="0">
              <a:buNone/>
            </a:pPr>
            <a:r>
              <a:rPr lang="en-US" sz="1200" b="1" dirty="0">
                <a:solidFill>
                  <a:schemeClr val="accent5"/>
                </a:solidFill>
              </a:rPr>
              <a:t>AI allowed</a:t>
            </a:r>
            <a:endParaRPr lang="en-US" sz="1800" dirty="0"/>
          </a:p>
        </p:txBody>
      </p:sp>
      <p:sp>
        <p:nvSpPr>
          <p:cNvPr id="8" name="Tier body 1"/>
          <p:cNvSpPr txBox="1"/>
          <p:nvPr/>
        </p:nvSpPr>
        <p:spPr>
          <a:xfrm>
            <a:off x="685800" y="2194560"/>
            <a:ext cx="2194560" cy="137160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Check balance, compare routes, read the audit log.</a:t>
            </a:r>
            <a:endParaRPr lang="en-US" sz="1600" dirty="0"/>
          </a:p>
          <a:p>
            <a:pPr indent="0" marL="0">
              <a:spcAft>
                <a:spcPts val="800"/>
              </a:spcAft>
              <a:buNone/>
            </a:pPr>
            <a:r>
              <a:rPr lang="en-US" sz="1600" b="1" dirty="0">
                <a:solidFill>
                  <a:schemeClr val="accent5"/>
                </a:solidFill>
              </a:rPr>
              <a:t>No money moves.</a:t>
            </a:r>
            <a:endParaRPr lang="en-US" sz="1600" dirty="0"/>
          </a:p>
        </p:txBody>
      </p:sp>
      <p:sp>
        <p:nvSpPr>
          <p:cNvPr id="9" name="Tier card 2"/>
          <p:cNvSpPr/>
          <p:nvPr/>
        </p:nvSpPr>
        <p:spPr>
          <a:xfrm>
            <a:off x="3268980" y="1280160"/>
            <a:ext cx="2606040" cy="2377440"/>
          </a:xfrm>
          <a:prstGeom prst="roundRect">
            <a:avLst>
              <a:gd name="adj" fmla="val 3077"/>
            </a:avLst>
          </a:prstGeom>
          <a:solidFill>
            <a:schemeClr val="bg2"/>
          </a:solidFill>
          <a:ln/>
          <a:effectLst>
            <a:outerShdw sx="100000" sy="100000" kx="0" ky="0" algn="bl" rotWithShape="0" blurRad="76200" dist="25400" dir="5400000">
              <a:srgbClr val="0B1226">
                <a:alpha val="10000"/>
              </a:srgbClr>
            </a:outerShdw>
          </a:effectLst>
        </p:spPr>
      </p:sp>
      <p:sp>
        <p:nvSpPr>
          <p:cNvPr id="10" name="Tier 2 circle"/>
          <p:cNvSpPr/>
          <p:nvPr/>
        </p:nvSpPr>
        <p:spPr>
          <a:xfrm>
            <a:off x="3497580" y="1481328"/>
            <a:ext cx="548640" cy="548640"/>
          </a:xfrm>
          <a:prstGeom prst="ellipse">
            <a:avLst/>
          </a:prstGeom>
          <a:solidFill>
            <a:schemeClr val="accent3"/>
          </a:solidFill>
          <a:ln/>
        </p:spPr>
      </p:sp>
      <p:pic>
        <p:nvPicPr>
          <p:cNvPr id="11" name="Tier 2 icon" descr="preencoded.png">    </p:cNvPr>
          <p:cNvPicPr>
            <a:picLocks noChangeAspect="1"/>
          </p:cNvPicPr>
          <p:nvPr/>
        </p:nvPicPr>
        <p:blipFill>
          <a:blip r:embed="rId2"/>
          <a:stretch>
            <a:fillRect/>
          </a:stretch>
        </p:blipFill>
        <p:spPr>
          <a:xfrm>
            <a:off x="3629254" y="1613002"/>
            <a:ext cx="285293" cy="285293"/>
          </a:xfrm>
          <a:prstGeom prst="rect">
            <a:avLst/>
          </a:prstGeom>
        </p:spPr>
      </p:pic>
      <p:sp>
        <p:nvSpPr>
          <p:cNvPr id="12" name="Tier title 2"/>
          <p:cNvSpPr txBox="1"/>
          <p:nvPr/>
        </p:nvSpPr>
        <p:spPr>
          <a:xfrm>
            <a:off x="4183380" y="1463040"/>
            <a:ext cx="1600200" cy="594360"/>
          </a:xfrm>
          <a:prstGeom prst="rect">
            <a:avLst/>
          </a:prstGeom>
          <a:noFill/>
          <a:ln/>
        </p:spPr>
        <p:txBody>
          <a:bodyPr wrap="square" lIns="0" tIns="0" rIns="0" bIns="0" rtlCol="0" anchor="ctr"/>
          <a:lstStyle/>
          <a:p>
            <a:pPr indent="0" marL="0">
              <a:buNone/>
            </a:pPr>
            <a:r>
              <a:rPr lang="en-US" sz="1800" b="1" dirty="0">
                <a:solidFill>
                  <a:schemeClr val="tx1"/>
                </a:solidFill>
              </a:rPr>
              <a:t>DRAFT</a:t>
            </a:r>
            <a:endParaRPr lang="en-US" sz="1800" dirty="0"/>
          </a:p>
          <a:p>
            <a:pPr indent="0" marL="0">
              <a:buNone/>
            </a:pPr>
            <a:r>
              <a:rPr lang="en-US" sz="1200" b="1" dirty="0">
                <a:solidFill>
                  <a:schemeClr val="accent3"/>
                </a:solidFill>
              </a:rPr>
              <a:t>AI allowed</a:t>
            </a:r>
            <a:endParaRPr lang="en-US" sz="1800" dirty="0"/>
          </a:p>
        </p:txBody>
      </p:sp>
      <p:sp>
        <p:nvSpPr>
          <p:cNvPr id="13" name="Tier body 2"/>
          <p:cNvSpPr txBox="1"/>
          <p:nvPr/>
        </p:nvSpPr>
        <p:spPr>
          <a:xfrm>
            <a:off x="3497580" y="2194560"/>
            <a:ext cx="2194560" cy="137160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Create a pending transfer with a one-time token.</a:t>
            </a:r>
            <a:endParaRPr lang="en-US" sz="1600" dirty="0"/>
          </a:p>
          <a:p>
            <a:pPr indent="0" marL="0">
              <a:spcAft>
                <a:spcPts val="800"/>
              </a:spcAft>
              <a:buNone/>
            </a:pPr>
            <a:r>
              <a:rPr lang="en-US" sz="1600" b="1" dirty="0">
                <a:solidFill>
                  <a:schemeClr val="accent3"/>
                </a:solidFill>
              </a:rPr>
              <a:t>Balance is unchanged.</a:t>
            </a:r>
            <a:endParaRPr lang="en-US" sz="1600" dirty="0"/>
          </a:p>
        </p:txBody>
      </p:sp>
      <p:sp>
        <p:nvSpPr>
          <p:cNvPr id="14" name="Tier card 3"/>
          <p:cNvSpPr/>
          <p:nvPr/>
        </p:nvSpPr>
        <p:spPr>
          <a:xfrm>
            <a:off x="6080760" y="1280160"/>
            <a:ext cx="2606040" cy="2377440"/>
          </a:xfrm>
          <a:prstGeom prst="roundRect">
            <a:avLst>
              <a:gd name="adj" fmla="val 3077"/>
            </a:avLst>
          </a:prstGeom>
          <a:solidFill>
            <a:schemeClr val="bg2"/>
          </a:solidFill>
          <a:ln/>
          <a:effectLst>
            <a:outerShdw sx="100000" sy="100000" kx="0" ky="0" algn="bl" rotWithShape="0" blurRad="76200" dist="25400" dir="5400000">
              <a:srgbClr val="0B1226">
                <a:alpha val="10000"/>
              </a:srgbClr>
            </a:outerShdw>
          </a:effectLst>
        </p:spPr>
      </p:sp>
      <p:sp>
        <p:nvSpPr>
          <p:cNvPr id="15" name="Tier 3 circle"/>
          <p:cNvSpPr/>
          <p:nvPr/>
        </p:nvSpPr>
        <p:spPr>
          <a:xfrm>
            <a:off x="6309360" y="1481328"/>
            <a:ext cx="548640" cy="548640"/>
          </a:xfrm>
          <a:prstGeom prst="ellipse">
            <a:avLst/>
          </a:prstGeom>
          <a:solidFill>
            <a:schemeClr val="accent4"/>
          </a:solidFill>
          <a:ln/>
        </p:spPr>
      </p:sp>
      <p:pic>
        <p:nvPicPr>
          <p:cNvPr id="16" name="Tier 3 icon" descr="preencoded.png">    </p:cNvPr>
          <p:cNvPicPr>
            <a:picLocks noChangeAspect="1"/>
          </p:cNvPicPr>
          <p:nvPr/>
        </p:nvPicPr>
        <p:blipFill>
          <a:blip r:embed="rId3"/>
          <a:stretch>
            <a:fillRect/>
          </a:stretch>
        </p:blipFill>
        <p:spPr>
          <a:xfrm>
            <a:off x="6441034" y="1613002"/>
            <a:ext cx="285293" cy="285293"/>
          </a:xfrm>
          <a:prstGeom prst="rect">
            <a:avLst/>
          </a:prstGeom>
        </p:spPr>
      </p:pic>
      <p:sp>
        <p:nvSpPr>
          <p:cNvPr id="17" name="Tier title 3"/>
          <p:cNvSpPr txBox="1"/>
          <p:nvPr/>
        </p:nvSpPr>
        <p:spPr>
          <a:xfrm>
            <a:off x="6995160" y="1463040"/>
            <a:ext cx="1600200" cy="594360"/>
          </a:xfrm>
          <a:prstGeom prst="rect">
            <a:avLst/>
          </a:prstGeom>
          <a:noFill/>
          <a:ln/>
        </p:spPr>
        <p:txBody>
          <a:bodyPr wrap="square" lIns="0" tIns="0" rIns="0" bIns="0" rtlCol="0" anchor="ctr"/>
          <a:lstStyle/>
          <a:p>
            <a:pPr indent="0" marL="0">
              <a:buNone/>
            </a:pPr>
            <a:r>
              <a:rPr lang="en-US" sz="1800" b="1" dirty="0">
                <a:solidFill>
                  <a:schemeClr val="tx1"/>
                </a:solidFill>
              </a:rPr>
              <a:t>EXECUTE</a:t>
            </a:r>
            <a:endParaRPr lang="en-US" sz="1800" dirty="0"/>
          </a:p>
          <a:p>
            <a:pPr indent="0" marL="0">
              <a:buNone/>
            </a:pPr>
            <a:r>
              <a:rPr lang="en-US" sz="1200" b="1" dirty="0">
                <a:solidFill>
                  <a:schemeClr val="accent4"/>
                </a:solidFill>
              </a:rPr>
              <a:t>Human only</a:t>
            </a:r>
            <a:endParaRPr lang="en-US" sz="1800" dirty="0"/>
          </a:p>
        </p:txBody>
      </p:sp>
      <p:sp>
        <p:nvSpPr>
          <p:cNvPr id="18" name="Tier body 3"/>
          <p:cNvSpPr txBox="1"/>
          <p:nvPr/>
        </p:nvSpPr>
        <p:spPr>
          <a:xfrm>
            <a:off x="6309360" y="2194560"/>
            <a:ext cx="2194560" cy="137160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Confirm payment with the token and explicit consent.</a:t>
            </a:r>
            <a:endParaRPr lang="en-US" sz="1600" dirty="0"/>
          </a:p>
          <a:p>
            <a:pPr indent="0" marL="0">
              <a:spcAft>
                <a:spcPts val="800"/>
              </a:spcAft>
              <a:buNone/>
            </a:pPr>
            <a:r>
              <a:rPr lang="en-US" sz="1600" b="1" dirty="0">
                <a:solidFill>
                  <a:schemeClr val="accent4"/>
                </a:solidFill>
              </a:rPr>
              <a:t>The AI is blocked here.</a:t>
            </a:r>
            <a:endParaRPr lang="en-US" sz="1600" dirty="0"/>
          </a:p>
        </p:txBody>
      </p:sp>
      <p:sp>
        <p:nvSpPr>
          <p:cNvPr id="19" name="Limits banner"/>
          <p:cNvSpPr/>
          <p:nvPr/>
        </p:nvSpPr>
        <p:spPr>
          <a:xfrm>
            <a:off x="457200" y="3931920"/>
            <a:ext cx="8229600" cy="731520"/>
          </a:xfrm>
          <a:prstGeom prst="roundRect">
            <a:avLst>
              <a:gd name="adj" fmla="val 10000"/>
            </a:avLst>
          </a:prstGeom>
          <a:solidFill>
            <a:schemeClr val="tx1"/>
          </a:solidFill>
          <a:ln/>
        </p:spPr>
      </p:sp>
      <p:sp>
        <p:nvSpPr>
          <p:cNvPr id="20" name="Limits text"/>
          <p:cNvSpPr txBox="1"/>
          <p:nvPr/>
        </p:nvSpPr>
        <p:spPr>
          <a:xfrm>
            <a:off x="640080" y="3931920"/>
            <a:ext cx="7863840" cy="731520"/>
          </a:xfrm>
          <a:prstGeom prst="rect">
            <a:avLst/>
          </a:prstGeom>
          <a:noFill/>
          <a:ln/>
        </p:spPr>
        <p:txBody>
          <a:bodyPr wrap="square" lIns="0" tIns="0" rIns="0" bIns="0" rtlCol="0" anchor="ctr"/>
          <a:lstStyle/>
          <a:p>
            <a:pPr indent="0" marL="0">
              <a:buNone/>
            </a:pPr>
            <a:r>
              <a:rPr lang="en-US" sz="1600" b="1" dirty="0">
                <a:solidFill>
                  <a:schemeClr val="bg1"/>
                </a:solidFill>
              </a:rPr>
              <a:t>Hard limits: 400,000 BDT per transfer  |  1,000,000 BDT per day</a:t>
            </a:r>
            <a:endParaRPr lang="en-US" sz="1600" dirty="0"/>
          </a:p>
          <a:p>
            <a:pPr indent="0" marL="0">
              <a:buNone/>
            </a:pPr>
            <a:r>
              <a:rPr lang="en-US" sz="1400" dirty="0">
                <a:solidFill>
                  <a:schemeClr val="accent6"/>
                </a:solidFill>
              </a:rPr>
              <a:t>Enforced in backend code, not in the AI prompt.</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INNOVATION  |  30% OF SCORE</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How the Agent Ranks Routes</a:t>
            </a:r>
            <a:endParaRPr lang="en-US" sz="3400" dirty="0"/>
          </a:p>
        </p:txBody>
      </p:sp>
      <p:sp>
        <p:nvSpPr>
          <p:cNvPr id="4" name="Formula card"/>
          <p:cNvSpPr/>
          <p:nvPr/>
        </p:nvSpPr>
        <p:spPr>
          <a:xfrm>
            <a:off x="457200" y="1280160"/>
            <a:ext cx="8229600" cy="868680"/>
          </a:xfrm>
          <a:prstGeom prst="roundRect">
            <a:avLst>
              <a:gd name="adj" fmla="val 8421"/>
            </a:avLst>
          </a:prstGeom>
          <a:solidFill>
            <a:schemeClr val="tx1"/>
          </a:solidFill>
          <a:ln/>
        </p:spPr>
      </p:sp>
      <p:sp>
        <p:nvSpPr>
          <p:cNvPr id="5" name="Formula text"/>
          <p:cNvSpPr txBox="1"/>
          <p:nvPr/>
        </p:nvSpPr>
        <p:spPr>
          <a:xfrm>
            <a:off x="640080" y="1280160"/>
            <a:ext cx="7863840" cy="868680"/>
          </a:xfrm>
          <a:prstGeom prst="rect">
            <a:avLst/>
          </a:prstGeom>
          <a:noFill/>
          <a:ln/>
        </p:spPr>
        <p:txBody>
          <a:bodyPr wrap="square" lIns="0" tIns="0" rIns="0" bIns="0" rtlCol="0" anchor="ctr"/>
          <a:lstStyle/>
          <a:p>
            <a:pPr indent="0" marL="0">
              <a:buNone/>
            </a:pPr>
            <a:r>
              <a:rPr lang="en-US" sz="1600" b="1" dirty="0">
                <a:solidFill>
                  <a:schemeClr val="bg1"/>
                </a:solidFill>
              </a:rPr>
              <a:t>Score = 0.50 × Cost + 0.30 × Speed + 0.20 × Reliability − Deadline penalty</a:t>
            </a:r>
            <a:endParaRPr lang="en-US" sz="1600" dirty="0"/>
          </a:p>
          <a:p>
            <a:pPr indent="0" marL="0">
              <a:buNone/>
            </a:pPr>
            <a:r>
              <a:rPr lang="en-US" sz="1400" dirty="0">
                <a:solidFill>
                  <a:schemeClr val="accent6"/>
                </a:solidFill>
              </a:rPr>
              <a:t>Deadline penalty: 40 points if a route arrives after the tuition due date.</a:t>
            </a:r>
            <a:endParaRPr lang="en-US" sz="1600" dirty="0"/>
          </a:p>
        </p:txBody>
      </p:sp>
      <p:sp>
        <p:nvSpPr>
          <p:cNvPr id="6" name="Route card 1"/>
          <p:cNvSpPr/>
          <p:nvPr/>
        </p:nvSpPr>
        <p:spPr>
          <a:xfrm>
            <a:off x="457200" y="2331720"/>
            <a:ext cx="4023360" cy="1051560"/>
          </a:xfrm>
          <a:prstGeom prst="roundRect">
            <a:avLst>
              <a:gd name="adj" fmla="val 6957"/>
            </a:avLst>
          </a:prstGeom>
          <a:solidFill>
            <a:schemeClr val="bg2"/>
          </a:solidFill>
          <a:ln/>
          <a:effectLst>
            <a:outerShdw sx="100000" sy="100000" kx="0" ky="0" algn="bl" rotWithShape="0" blurRad="76200" dist="25400" dir="5400000">
              <a:srgbClr val="0B1226">
                <a:alpha val="10000"/>
              </a:srgbClr>
            </a:outerShdw>
          </a:effectLst>
        </p:spPr>
      </p:sp>
      <p:sp>
        <p:nvSpPr>
          <p:cNvPr id="7" name="Route name 1"/>
          <p:cNvSpPr txBox="1"/>
          <p:nvPr/>
        </p:nvSpPr>
        <p:spPr>
          <a:xfrm>
            <a:off x="640080" y="2450592"/>
            <a:ext cx="2377440" cy="274320"/>
          </a:xfrm>
          <a:prstGeom prst="rect">
            <a:avLst/>
          </a:prstGeom>
          <a:noFill/>
          <a:ln/>
        </p:spPr>
        <p:txBody>
          <a:bodyPr wrap="square" lIns="0" tIns="0" rIns="0" bIns="0" rtlCol="0" anchor="ctr"/>
          <a:lstStyle/>
          <a:p>
            <a:pPr indent="0" marL="0">
              <a:buNone/>
            </a:pPr>
            <a:r>
              <a:rPr lang="en-US" sz="1600" b="1" dirty="0">
                <a:solidFill>
                  <a:schemeClr val="tx1"/>
                </a:solidFill>
              </a:rPr>
              <a:t>EduPay Prime</a:t>
            </a:r>
            <a:endParaRPr lang="en-US" sz="1600" dirty="0"/>
          </a:p>
        </p:txBody>
      </p:sp>
      <p:sp>
        <p:nvSpPr>
          <p:cNvPr id="8" name="Route tag 1"/>
          <p:cNvSpPr/>
          <p:nvPr/>
        </p:nvSpPr>
        <p:spPr>
          <a:xfrm>
            <a:off x="3200400" y="2459736"/>
            <a:ext cx="1097280" cy="256032"/>
          </a:xfrm>
          <a:prstGeom prst="roundRect">
            <a:avLst>
              <a:gd name="adj" fmla="val 50000"/>
            </a:avLst>
          </a:prstGeom>
          <a:solidFill>
            <a:schemeClr val="accent1"/>
          </a:solidFill>
          <a:ln/>
        </p:spPr>
      </p:sp>
      <p:sp>
        <p:nvSpPr>
          <p:cNvPr id="9" name="Route tag 1 text"/>
          <p:cNvSpPr txBox="1"/>
          <p:nvPr/>
        </p:nvSpPr>
        <p:spPr>
          <a:xfrm>
            <a:off x="3200400" y="2459736"/>
            <a:ext cx="1097280" cy="256032"/>
          </a:xfrm>
          <a:prstGeom prst="rect">
            <a:avLst/>
          </a:prstGeom>
          <a:noFill/>
          <a:ln/>
        </p:spPr>
        <p:txBody>
          <a:bodyPr wrap="square" lIns="0" tIns="0" rIns="0" bIns="0" rtlCol="0" anchor="ctr"/>
          <a:lstStyle/>
          <a:p>
            <a:pPr algn="ctr" indent="0" marL="0">
              <a:buNone/>
            </a:pPr>
            <a:r>
              <a:rPr lang="en-US" sz="1100" b="1" dirty="0">
                <a:solidFill>
                  <a:schemeClr val="bg1"/>
                </a:solidFill>
              </a:rPr>
              <a:t>Best overall</a:t>
            </a:r>
            <a:endParaRPr lang="en-US" sz="1100" dirty="0"/>
          </a:p>
        </p:txBody>
      </p:sp>
      <p:sp>
        <p:nvSpPr>
          <p:cNvPr id="10" name="Route facts 1"/>
          <p:cNvSpPr txBox="1"/>
          <p:nvPr/>
        </p:nvSpPr>
        <p:spPr>
          <a:xfrm>
            <a:off x="640080" y="2807208"/>
            <a:ext cx="3657600" cy="502920"/>
          </a:xfrm>
          <a:prstGeom prst="rect">
            <a:avLst/>
          </a:prstGeom>
          <a:noFill/>
          <a:ln/>
        </p:spPr>
        <p:txBody>
          <a:bodyPr wrap="square" lIns="0" tIns="0" rIns="0" bIns="0" rtlCol="0" anchor="t"/>
          <a:lstStyle/>
          <a:p>
            <a:pPr indent="0" marL="0">
              <a:buNone/>
            </a:pPr>
            <a:r>
              <a:rPr lang="en-US" sz="1400" dirty="0">
                <a:solidFill>
                  <a:schemeClr val="tx2"/>
                </a:solidFill>
              </a:rPr>
              <a:t>Rate 119.19 BDT/USD  |  24 hours</a:t>
            </a:r>
            <a:endParaRPr lang="en-US" sz="1400" dirty="0"/>
          </a:p>
          <a:p>
            <a:pPr indent="0" marL="0">
              <a:buNone/>
            </a:pPr>
            <a:r>
              <a:rPr lang="en-US" sz="1400" dirty="0">
                <a:solidFill>
                  <a:schemeClr val="tx2"/>
                </a:solidFill>
              </a:rPr>
              <a:t>Fee 350 BDT + 0.15%  |  99% reliable</a:t>
            </a:r>
            <a:endParaRPr lang="en-US" sz="1400" dirty="0"/>
          </a:p>
        </p:txBody>
      </p:sp>
      <p:sp>
        <p:nvSpPr>
          <p:cNvPr id="11" name="Route card 2"/>
          <p:cNvSpPr/>
          <p:nvPr/>
        </p:nvSpPr>
        <p:spPr>
          <a:xfrm>
            <a:off x="4663440" y="2331720"/>
            <a:ext cx="4023360" cy="1051560"/>
          </a:xfrm>
          <a:prstGeom prst="roundRect">
            <a:avLst>
              <a:gd name="adj" fmla="val 6957"/>
            </a:avLst>
          </a:prstGeom>
          <a:solidFill>
            <a:schemeClr val="bg2"/>
          </a:solidFill>
          <a:ln/>
          <a:effectLst>
            <a:outerShdw sx="100000" sy="100000" kx="0" ky="0" algn="bl" rotWithShape="0" blurRad="76200" dist="25400" dir="5400000">
              <a:srgbClr val="0B1226">
                <a:alpha val="10000"/>
              </a:srgbClr>
            </a:outerShdw>
          </a:effectLst>
        </p:spPr>
      </p:sp>
      <p:sp>
        <p:nvSpPr>
          <p:cNvPr id="12" name="Route name 2"/>
          <p:cNvSpPr txBox="1"/>
          <p:nvPr/>
        </p:nvSpPr>
        <p:spPr>
          <a:xfrm>
            <a:off x="4846320" y="2450592"/>
            <a:ext cx="2377440" cy="274320"/>
          </a:xfrm>
          <a:prstGeom prst="rect">
            <a:avLst/>
          </a:prstGeom>
          <a:noFill/>
          <a:ln/>
        </p:spPr>
        <p:txBody>
          <a:bodyPr wrap="square" lIns="0" tIns="0" rIns="0" bIns="0" rtlCol="0" anchor="ctr"/>
          <a:lstStyle/>
          <a:p>
            <a:pPr indent="0" marL="0">
              <a:buNone/>
            </a:pPr>
            <a:r>
              <a:rPr lang="en-US" sz="1600" b="1" dirty="0">
                <a:solidFill>
                  <a:schemeClr val="tx1"/>
                </a:solidFill>
              </a:rPr>
              <a:t>SwiftWire Express</a:t>
            </a:r>
            <a:endParaRPr lang="en-US" sz="1600" dirty="0"/>
          </a:p>
        </p:txBody>
      </p:sp>
      <p:sp>
        <p:nvSpPr>
          <p:cNvPr id="13" name="Route tag 2"/>
          <p:cNvSpPr/>
          <p:nvPr/>
        </p:nvSpPr>
        <p:spPr>
          <a:xfrm>
            <a:off x="7406640" y="2459736"/>
            <a:ext cx="1097280" cy="256032"/>
          </a:xfrm>
          <a:prstGeom prst="roundRect">
            <a:avLst>
              <a:gd name="adj" fmla="val 50000"/>
            </a:avLst>
          </a:prstGeom>
          <a:solidFill>
            <a:schemeClr val="accent2"/>
          </a:solidFill>
          <a:ln/>
        </p:spPr>
      </p:sp>
      <p:sp>
        <p:nvSpPr>
          <p:cNvPr id="14" name="Route tag 2 text"/>
          <p:cNvSpPr txBox="1"/>
          <p:nvPr/>
        </p:nvSpPr>
        <p:spPr>
          <a:xfrm>
            <a:off x="7406640" y="2459736"/>
            <a:ext cx="1097280" cy="256032"/>
          </a:xfrm>
          <a:prstGeom prst="rect">
            <a:avLst/>
          </a:prstGeom>
          <a:noFill/>
          <a:ln/>
        </p:spPr>
        <p:txBody>
          <a:bodyPr wrap="square" lIns="0" tIns="0" rIns="0" bIns="0" rtlCol="0" anchor="ctr"/>
          <a:lstStyle/>
          <a:p>
            <a:pPr algn="ctr" indent="0" marL="0">
              <a:buNone/>
            </a:pPr>
            <a:r>
              <a:rPr lang="en-US" sz="1100" b="1" dirty="0">
                <a:solidFill>
                  <a:schemeClr val="bg1"/>
                </a:solidFill>
              </a:rPr>
              <a:t>Fastest</a:t>
            </a:r>
            <a:endParaRPr lang="en-US" sz="1100" dirty="0"/>
          </a:p>
        </p:txBody>
      </p:sp>
      <p:sp>
        <p:nvSpPr>
          <p:cNvPr id="15" name="Route facts 2"/>
          <p:cNvSpPr txBox="1"/>
          <p:nvPr/>
        </p:nvSpPr>
        <p:spPr>
          <a:xfrm>
            <a:off x="4846320" y="2807208"/>
            <a:ext cx="3657600" cy="502920"/>
          </a:xfrm>
          <a:prstGeom prst="rect">
            <a:avLst/>
          </a:prstGeom>
          <a:noFill/>
          <a:ln/>
        </p:spPr>
        <p:txBody>
          <a:bodyPr wrap="square" lIns="0" tIns="0" rIns="0" bIns="0" rtlCol="0" anchor="t"/>
          <a:lstStyle/>
          <a:p>
            <a:pPr indent="0" marL="0">
              <a:buNone/>
            </a:pPr>
            <a:r>
              <a:rPr lang="en-US" sz="1400" dirty="0">
                <a:solidFill>
                  <a:schemeClr val="tx2"/>
                </a:solidFill>
              </a:rPr>
              <a:t>Rate 120.10 BDT/USD  |  4 hours</a:t>
            </a:r>
            <a:endParaRPr lang="en-US" sz="1400" dirty="0"/>
          </a:p>
          <a:p>
            <a:pPr indent="0" marL="0">
              <a:buNone/>
            </a:pPr>
            <a:r>
              <a:rPr lang="en-US" sz="1400" dirty="0">
                <a:solidFill>
                  <a:schemeClr val="tx2"/>
                </a:solidFill>
              </a:rPr>
              <a:t>Fee 1,200 BDT + 0.35%  |  97% reliable</a:t>
            </a:r>
            <a:endParaRPr lang="en-US" sz="1400" dirty="0"/>
          </a:p>
        </p:txBody>
      </p:sp>
      <p:sp>
        <p:nvSpPr>
          <p:cNvPr id="16" name="Route card 3"/>
          <p:cNvSpPr/>
          <p:nvPr/>
        </p:nvSpPr>
        <p:spPr>
          <a:xfrm>
            <a:off x="457200" y="3520440"/>
            <a:ext cx="4023360" cy="1051560"/>
          </a:xfrm>
          <a:prstGeom prst="roundRect">
            <a:avLst>
              <a:gd name="adj" fmla="val 6957"/>
            </a:avLst>
          </a:prstGeom>
          <a:solidFill>
            <a:schemeClr val="bg2"/>
          </a:solidFill>
          <a:ln/>
          <a:effectLst>
            <a:outerShdw sx="100000" sy="100000" kx="0" ky="0" algn="bl" rotWithShape="0" blurRad="76200" dist="25400" dir="5400000">
              <a:srgbClr val="0B1226">
                <a:alpha val="10000"/>
              </a:srgbClr>
            </a:outerShdw>
          </a:effectLst>
        </p:spPr>
      </p:sp>
      <p:sp>
        <p:nvSpPr>
          <p:cNvPr id="17" name="Route name 3"/>
          <p:cNvSpPr txBox="1"/>
          <p:nvPr/>
        </p:nvSpPr>
        <p:spPr>
          <a:xfrm>
            <a:off x="640080" y="3639312"/>
            <a:ext cx="2377440" cy="274320"/>
          </a:xfrm>
          <a:prstGeom prst="rect">
            <a:avLst/>
          </a:prstGeom>
          <a:noFill/>
          <a:ln/>
        </p:spPr>
        <p:txBody>
          <a:bodyPr wrap="square" lIns="0" tIns="0" rIns="0" bIns="0" rtlCol="0" anchor="ctr"/>
          <a:lstStyle/>
          <a:p>
            <a:pPr indent="0" marL="0">
              <a:buNone/>
            </a:pPr>
            <a:r>
              <a:rPr lang="en-US" sz="1600" b="1" dirty="0">
                <a:solidFill>
                  <a:schemeClr val="tx1"/>
                </a:solidFill>
              </a:rPr>
              <a:t>GlobalCampus Pay</a:t>
            </a:r>
            <a:endParaRPr lang="en-US" sz="1600" dirty="0"/>
          </a:p>
        </p:txBody>
      </p:sp>
      <p:sp>
        <p:nvSpPr>
          <p:cNvPr id="18" name="Route tag 3"/>
          <p:cNvSpPr/>
          <p:nvPr/>
        </p:nvSpPr>
        <p:spPr>
          <a:xfrm>
            <a:off x="3200400" y="3648456"/>
            <a:ext cx="1097280" cy="256032"/>
          </a:xfrm>
          <a:prstGeom prst="roundRect">
            <a:avLst>
              <a:gd name="adj" fmla="val 50000"/>
            </a:avLst>
          </a:prstGeom>
          <a:solidFill>
            <a:schemeClr val="accent3"/>
          </a:solidFill>
          <a:ln/>
        </p:spPr>
      </p:sp>
      <p:sp>
        <p:nvSpPr>
          <p:cNvPr id="19" name="Route tag 3 text"/>
          <p:cNvSpPr txBox="1"/>
          <p:nvPr/>
        </p:nvSpPr>
        <p:spPr>
          <a:xfrm>
            <a:off x="3200400" y="3648456"/>
            <a:ext cx="1097280" cy="256032"/>
          </a:xfrm>
          <a:prstGeom prst="rect">
            <a:avLst/>
          </a:prstGeom>
          <a:noFill/>
          <a:ln/>
        </p:spPr>
        <p:txBody>
          <a:bodyPr wrap="square" lIns="0" tIns="0" rIns="0" bIns="0" rtlCol="0" anchor="ctr"/>
          <a:lstStyle/>
          <a:p>
            <a:pPr algn="ctr" indent="0" marL="0">
              <a:buNone/>
            </a:pPr>
            <a:r>
              <a:rPr lang="en-US" sz="1100" b="1" dirty="0">
                <a:solidFill>
                  <a:schemeClr val="bg1"/>
                </a:solidFill>
              </a:rPr>
              <a:t>Licensed MTO</a:t>
            </a:r>
            <a:endParaRPr lang="en-US" sz="1100" dirty="0"/>
          </a:p>
        </p:txBody>
      </p:sp>
      <p:sp>
        <p:nvSpPr>
          <p:cNvPr id="20" name="Route facts 3"/>
          <p:cNvSpPr txBox="1"/>
          <p:nvPr/>
        </p:nvSpPr>
        <p:spPr>
          <a:xfrm>
            <a:off x="640080" y="3995928"/>
            <a:ext cx="3657600" cy="502920"/>
          </a:xfrm>
          <a:prstGeom prst="rect">
            <a:avLst/>
          </a:prstGeom>
          <a:noFill/>
          <a:ln/>
        </p:spPr>
        <p:txBody>
          <a:bodyPr wrap="square" lIns="0" tIns="0" rIns="0" bIns="0" rtlCol="0" anchor="t"/>
          <a:lstStyle/>
          <a:p>
            <a:pPr indent="0" marL="0">
              <a:buNone/>
            </a:pPr>
            <a:r>
              <a:rPr lang="en-US" sz="1400" dirty="0">
                <a:solidFill>
                  <a:schemeClr val="tx2"/>
                </a:solidFill>
              </a:rPr>
              <a:t>Rate 119.80 BDT/USD  |  48 hours</a:t>
            </a:r>
            <a:endParaRPr lang="en-US" sz="1400" dirty="0"/>
          </a:p>
          <a:p>
            <a:pPr indent="0" marL="0">
              <a:buNone/>
            </a:pPr>
            <a:r>
              <a:rPr lang="en-US" sz="1400" dirty="0">
                <a:solidFill>
                  <a:schemeClr val="tx2"/>
                </a:solidFill>
              </a:rPr>
              <a:t>Fee 600 BDT + 0.20%  |  94% reliable</a:t>
            </a:r>
            <a:endParaRPr lang="en-US" sz="1400" dirty="0"/>
          </a:p>
        </p:txBody>
      </p:sp>
      <p:sp>
        <p:nvSpPr>
          <p:cNvPr id="21" name="Route card 4"/>
          <p:cNvSpPr/>
          <p:nvPr/>
        </p:nvSpPr>
        <p:spPr>
          <a:xfrm>
            <a:off x="4663440" y="3520440"/>
            <a:ext cx="4023360" cy="1051560"/>
          </a:xfrm>
          <a:prstGeom prst="roundRect">
            <a:avLst>
              <a:gd name="adj" fmla="val 6957"/>
            </a:avLst>
          </a:prstGeom>
          <a:solidFill>
            <a:schemeClr val="bg2"/>
          </a:solidFill>
          <a:ln/>
          <a:effectLst>
            <a:outerShdw sx="100000" sy="100000" kx="0" ky="0" algn="bl" rotWithShape="0" blurRad="76200" dist="25400" dir="5400000">
              <a:srgbClr val="0B1226">
                <a:alpha val="10000"/>
              </a:srgbClr>
            </a:outerShdw>
          </a:effectLst>
        </p:spPr>
      </p:sp>
      <p:sp>
        <p:nvSpPr>
          <p:cNvPr id="22" name="Route name 4"/>
          <p:cNvSpPr txBox="1"/>
          <p:nvPr/>
        </p:nvSpPr>
        <p:spPr>
          <a:xfrm>
            <a:off x="4846320" y="3639312"/>
            <a:ext cx="2377440" cy="274320"/>
          </a:xfrm>
          <a:prstGeom prst="rect">
            <a:avLst/>
          </a:prstGeom>
          <a:noFill/>
          <a:ln/>
        </p:spPr>
        <p:txBody>
          <a:bodyPr wrap="square" lIns="0" tIns="0" rIns="0" bIns="0" rtlCol="0" anchor="ctr"/>
          <a:lstStyle/>
          <a:p>
            <a:pPr indent="0" marL="0">
              <a:buNone/>
            </a:pPr>
            <a:r>
              <a:rPr lang="en-US" sz="1600" b="1" dirty="0">
                <a:solidFill>
                  <a:schemeClr val="tx1"/>
                </a:solidFill>
              </a:rPr>
              <a:t>National Bank Wire</a:t>
            </a:r>
            <a:endParaRPr lang="en-US" sz="1600" dirty="0"/>
          </a:p>
        </p:txBody>
      </p:sp>
      <p:sp>
        <p:nvSpPr>
          <p:cNvPr id="23" name="Route tag 4"/>
          <p:cNvSpPr/>
          <p:nvPr/>
        </p:nvSpPr>
        <p:spPr>
          <a:xfrm>
            <a:off x="7406640" y="3648456"/>
            <a:ext cx="1097280" cy="256032"/>
          </a:xfrm>
          <a:prstGeom prst="roundRect">
            <a:avLst>
              <a:gd name="adj" fmla="val 50000"/>
            </a:avLst>
          </a:prstGeom>
          <a:solidFill>
            <a:schemeClr val="tx2"/>
          </a:solidFill>
          <a:ln/>
        </p:spPr>
      </p:sp>
      <p:sp>
        <p:nvSpPr>
          <p:cNvPr id="24" name="Route tag 4 text"/>
          <p:cNvSpPr txBox="1"/>
          <p:nvPr/>
        </p:nvSpPr>
        <p:spPr>
          <a:xfrm>
            <a:off x="7406640" y="3648456"/>
            <a:ext cx="1097280" cy="256032"/>
          </a:xfrm>
          <a:prstGeom prst="rect">
            <a:avLst/>
          </a:prstGeom>
          <a:noFill/>
          <a:ln/>
        </p:spPr>
        <p:txBody>
          <a:bodyPr wrap="square" lIns="0" tIns="0" rIns="0" bIns="0" rtlCol="0" anchor="ctr"/>
          <a:lstStyle/>
          <a:p>
            <a:pPr algn="ctr" indent="0" marL="0">
              <a:buNone/>
            </a:pPr>
            <a:r>
              <a:rPr lang="en-US" sz="1100" b="1" dirty="0">
                <a:solidFill>
                  <a:schemeClr val="bg1"/>
                </a:solidFill>
              </a:rPr>
              <a:t>Legacy bank</a:t>
            </a:r>
            <a:endParaRPr lang="en-US" sz="1100" dirty="0"/>
          </a:p>
        </p:txBody>
      </p:sp>
      <p:sp>
        <p:nvSpPr>
          <p:cNvPr id="25" name="Route facts 4"/>
          <p:cNvSpPr txBox="1"/>
          <p:nvPr/>
        </p:nvSpPr>
        <p:spPr>
          <a:xfrm>
            <a:off x="4846320" y="3995928"/>
            <a:ext cx="3657600" cy="502920"/>
          </a:xfrm>
          <a:prstGeom prst="rect">
            <a:avLst/>
          </a:prstGeom>
          <a:noFill/>
          <a:ln/>
        </p:spPr>
        <p:txBody>
          <a:bodyPr wrap="square" lIns="0" tIns="0" rIns="0" bIns="0" rtlCol="0" anchor="t"/>
          <a:lstStyle/>
          <a:p>
            <a:pPr indent="0" marL="0">
              <a:buNone/>
            </a:pPr>
            <a:r>
              <a:rPr lang="en-US" sz="1400" dirty="0">
                <a:solidFill>
                  <a:schemeClr val="tx2"/>
                </a:solidFill>
              </a:rPr>
              <a:t>Rate 121.50 BDT/USD  |  72 hours</a:t>
            </a:r>
            <a:endParaRPr lang="en-US" sz="1400" dirty="0"/>
          </a:p>
          <a:p>
            <a:pPr indent="0" marL="0">
              <a:buNone/>
            </a:pPr>
            <a:r>
              <a:rPr lang="en-US" sz="1400" dirty="0">
                <a:solidFill>
                  <a:schemeClr val="tx2"/>
                </a:solidFill>
              </a:rPr>
              <a:t>Fee 2,500 BDT + 0.50%  |  89% reliable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TASK COMPLETION  |  40% OF SCORE</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The Demo Flow</a:t>
            </a:r>
            <a:endParaRPr lang="en-US" sz="3400" dirty="0"/>
          </a:p>
        </p:txBody>
      </p:sp>
      <p:sp>
        <p:nvSpPr>
          <p:cNvPr id="4" name="Step card 1"/>
          <p:cNvSpPr/>
          <p:nvPr/>
        </p:nvSpPr>
        <p:spPr>
          <a:xfrm>
            <a:off x="457200" y="1280160"/>
            <a:ext cx="2606040" cy="1554480"/>
          </a:xfrm>
          <a:prstGeom prst="roundRect">
            <a:avLst>
              <a:gd name="adj" fmla="val 4706"/>
            </a:avLst>
          </a:prstGeom>
          <a:solidFill>
            <a:schemeClr val="bg2"/>
          </a:solidFill>
          <a:ln/>
          <a:effectLst>
            <a:outerShdw sx="100000" sy="100000" kx="0" ky="0" algn="bl" rotWithShape="0" blurRad="76200" dist="25400" dir="5400000">
              <a:srgbClr val="0B1226">
                <a:alpha val="10000"/>
              </a:srgbClr>
            </a:outerShdw>
          </a:effectLst>
        </p:spPr>
      </p:sp>
      <p:sp>
        <p:nvSpPr>
          <p:cNvPr id="5" name="Step badge 1"/>
          <p:cNvSpPr/>
          <p:nvPr/>
        </p:nvSpPr>
        <p:spPr>
          <a:xfrm>
            <a:off x="640080" y="1444752"/>
            <a:ext cx="384048" cy="384048"/>
          </a:xfrm>
          <a:prstGeom prst="ellipse">
            <a:avLst/>
          </a:prstGeom>
          <a:solidFill>
            <a:schemeClr val="accent1"/>
          </a:solidFill>
          <a:ln/>
        </p:spPr>
      </p:sp>
      <p:sp>
        <p:nvSpPr>
          <p:cNvPr id="6" name="Step number 1"/>
          <p:cNvSpPr txBox="1"/>
          <p:nvPr/>
        </p:nvSpPr>
        <p:spPr>
          <a:xfrm>
            <a:off x="640080" y="144475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heading 1"/>
          <p:cNvSpPr txBox="1"/>
          <p:nvPr/>
        </p:nvSpPr>
        <p:spPr>
          <a:xfrm>
            <a:off x="1143000" y="1444752"/>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Ask &amp; compare</a:t>
            </a:r>
            <a:endParaRPr lang="en-US" sz="1600" dirty="0"/>
          </a:p>
        </p:txBody>
      </p:sp>
      <p:sp>
        <p:nvSpPr>
          <p:cNvPr id="8" name="Step body 1"/>
          <p:cNvSpPr txBox="1"/>
          <p:nvPr/>
        </p:nvSpPr>
        <p:spPr>
          <a:xfrm>
            <a:off x="640080" y="1965960"/>
            <a:ext cx="2286000" cy="777240"/>
          </a:xfrm>
          <a:prstGeom prst="rect">
            <a:avLst/>
          </a:prstGeom>
          <a:noFill/>
          <a:ln/>
        </p:spPr>
        <p:txBody>
          <a:bodyPr wrap="square" lIns="0" tIns="0" rIns="0" bIns="0" rtlCol="0" anchor="t"/>
          <a:lstStyle/>
          <a:p>
            <a:pPr indent="0" marL="0">
              <a:buNone/>
            </a:pPr>
            <a:r>
              <a:rPr lang="en-US" sz="1400" dirty="0">
                <a:solidFill>
                  <a:schemeClr val="tx2"/>
                </a:solidFill>
              </a:rPr>
              <a:t>“Pay my $3,000 tuition.” Four routes are ranked.</a:t>
            </a:r>
            <a:endParaRPr lang="en-US" sz="1400" dirty="0"/>
          </a:p>
        </p:txBody>
      </p:sp>
      <p:sp>
        <p:nvSpPr>
          <p:cNvPr id="9" name="Step card 2"/>
          <p:cNvSpPr/>
          <p:nvPr/>
        </p:nvSpPr>
        <p:spPr>
          <a:xfrm>
            <a:off x="3268980" y="1280160"/>
            <a:ext cx="2606040" cy="1554480"/>
          </a:xfrm>
          <a:prstGeom prst="roundRect">
            <a:avLst>
              <a:gd name="adj" fmla="val 4706"/>
            </a:avLst>
          </a:prstGeom>
          <a:solidFill>
            <a:schemeClr val="bg2"/>
          </a:solidFill>
          <a:ln/>
          <a:effectLst>
            <a:outerShdw sx="100000" sy="100000" kx="0" ky="0" algn="bl" rotWithShape="0" blurRad="76200" dist="25400" dir="5400000">
              <a:srgbClr val="0B1226">
                <a:alpha val="10000"/>
              </a:srgbClr>
            </a:outerShdw>
          </a:effectLst>
        </p:spPr>
      </p:sp>
      <p:sp>
        <p:nvSpPr>
          <p:cNvPr id="10" name="Step badge 2"/>
          <p:cNvSpPr/>
          <p:nvPr/>
        </p:nvSpPr>
        <p:spPr>
          <a:xfrm>
            <a:off x="3451860" y="1444752"/>
            <a:ext cx="384048" cy="384048"/>
          </a:xfrm>
          <a:prstGeom prst="ellipse">
            <a:avLst/>
          </a:prstGeom>
          <a:solidFill>
            <a:schemeClr val="accent1"/>
          </a:solidFill>
          <a:ln/>
        </p:spPr>
      </p:sp>
      <p:sp>
        <p:nvSpPr>
          <p:cNvPr id="11" name="Step number 2"/>
          <p:cNvSpPr txBox="1"/>
          <p:nvPr/>
        </p:nvSpPr>
        <p:spPr>
          <a:xfrm>
            <a:off x="3451860" y="144475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Step heading 2"/>
          <p:cNvSpPr txBox="1"/>
          <p:nvPr/>
        </p:nvSpPr>
        <p:spPr>
          <a:xfrm>
            <a:off x="3954780" y="1444752"/>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Draft</a:t>
            </a:r>
            <a:endParaRPr lang="en-US" sz="1600" dirty="0"/>
          </a:p>
        </p:txBody>
      </p:sp>
      <p:sp>
        <p:nvSpPr>
          <p:cNvPr id="13" name="Step body 2"/>
          <p:cNvSpPr txBox="1"/>
          <p:nvPr/>
        </p:nvSpPr>
        <p:spPr>
          <a:xfrm>
            <a:off x="3451860" y="1965960"/>
            <a:ext cx="2286000" cy="777240"/>
          </a:xfrm>
          <a:prstGeom prst="rect">
            <a:avLst/>
          </a:prstGeom>
          <a:noFill/>
          <a:ln/>
        </p:spPr>
        <p:txBody>
          <a:bodyPr wrap="square" lIns="0" tIns="0" rIns="0" bIns="0" rtlCol="0" anchor="t"/>
          <a:lstStyle/>
          <a:p>
            <a:pPr indent="0" marL="0">
              <a:buNone/>
            </a:pPr>
            <a:r>
              <a:rPr lang="en-US" sz="1400" dirty="0">
                <a:solidFill>
                  <a:schemeClr val="tx2"/>
                </a:solidFill>
              </a:rPr>
              <a:t>EduPay Prime draft: 358,454.85 BDT. Balance unchanged.</a:t>
            </a:r>
            <a:endParaRPr lang="en-US" sz="1400" dirty="0"/>
          </a:p>
        </p:txBody>
      </p:sp>
      <p:sp>
        <p:nvSpPr>
          <p:cNvPr id="14" name="Step card 3"/>
          <p:cNvSpPr/>
          <p:nvPr/>
        </p:nvSpPr>
        <p:spPr>
          <a:xfrm>
            <a:off x="6080760" y="1280160"/>
            <a:ext cx="2606040" cy="1554480"/>
          </a:xfrm>
          <a:prstGeom prst="roundRect">
            <a:avLst>
              <a:gd name="adj" fmla="val 4706"/>
            </a:avLst>
          </a:prstGeom>
          <a:solidFill>
            <a:schemeClr val="bg2"/>
          </a:solidFill>
          <a:ln/>
          <a:effectLst>
            <a:outerShdw sx="100000" sy="100000" kx="0" ky="0" algn="bl" rotWithShape="0" blurRad="76200" dist="25400" dir="5400000">
              <a:srgbClr val="0B1226">
                <a:alpha val="10000"/>
              </a:srgbClr>
            </a:outerShdw>
          </a:effectLst>
        </p:spPr>
      </p:sp>
      <p:sp>
        <p:nvSpPr>
          <p:cNvPr id="15" name="Step badge 3"/>
          <p:cNvSpPr/>
          <p:nvPr/>
        </p:nvSpPr>
        <p:spPr>
          <a:xfrm>
            <a:off x="6263640" y="1444752"/>
            <a:ext cx="384048" cy="384048"/>
          </a:xfrm>
          <a:prstGeom prst="ellipse">
            <a:avLst/>
          </a:prstGeom>
          <a:solidFill>
            <a:schemeClr val="accent1"/>
          </a:solidFill>
          <a:ln/>
        </p:spPr>
      </p:sp>
      <p:sp>
        <p:nvSpPr>
          <p:cNvPr id="16" name="Step number 3"/>
          <p:cNvSpPr txBox="1"/>
          <p:nvPr/>
        </p:nvSpPr>
        <p:spPr>
          <a:xfrm>
            <a:off x="6263640" y="144475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Step heading 3"/>
          <p:cNvSpPr txBox="1"/>
          <p:nvPr/>
        </p:nvSpPr>
        <p:spPr>
          <a:xfrm>
            <a:off x="6766560" y="1444752"/>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Confirm</a:t>
            </a:r>
            <a:endParaRPr lang="en-US" sz="1600" dirty="0"/>
          </a:p>
        </p:txBody>
      </p:sp>
      <p:sp>
        <p:nvSpPr>
          <p:cNvPr id="18" name="Step body 3"/>
          <p:cNvSpPr txBox="1"/>
          <p:nvPr/>
        </p:nvSpPr>
        <p:spPr>
          <a:xfrm>
            <a:off x="6263640" y="1965960"/>
            <a:ext cx="2286000" cy="777240"/>
          </a:xfrm>
          <a:prstGeom prst="rect">
            <a:avLst/>
          </a:prstGeom>
          <a:noFill/>
          <a:ln/>
        </p:spPr>
        <p:txBody>
          <a:bodyPr wrap="square" lIns="0" tIns="0" rIns="0" bIns="0" rtlCol="0" anchor="t"/>
          <a:lstStyle/>
          <a:p>
            <a:pPr indent="0" marL="0">
              <a:buNone/>
            </a:pPr>
            <a:r>
              <a:rPr lang="en-US" sz="1400" dirty="0">
                <a:solidFill>
                  <a:schemeClr val="tx2"/>
                </a:solidFill>
              </a:rPr>
              <a:t>Student approves. Balance: 850,000 to 491,545.15 BDT.</a:t>
            </a:r>
            <a:endParaRPr lang="en-US" sz="1400" dirty="0"/>
          </a:p>
        </p:txBody>
      </p:sp>
      <p:sp>
        <p:nvSpPr>
          <p:cNvPr id="19" name="Step card 4"/>
          <p:cNvSpPr/>
          <p:nvPr/>
        </p:nvSpPr>
        <p:spPr>
          <a:xfrm>
            <a:off x="457200" y="2971800"/>
            <a:ext cx="2606040" cy="1554480"/>
          </a:xfrm>
          <a:prstGeom prst="roundRect">
            <a:avLst>
              <a:gd name="adj" fmla="val 4706"/>
            </a:avLst>
          </a:prstGeom>
          <a:solidFill>
            <a:schemeClr val="bg2"/>
          </a:solidFill>
          <a:ln/>
          <a:effectLst>
            <a:outerShdw sx="100000" sy="100000" kx="0" ky="0" algn="bl" rotWithShape="0" blurRad="76200" dist="25400" dir="5400000">
              <a:srgbClr val="0B1226">
                <a:alpha val="10000"/>
              </a:srgbClr>
            </a:outerShdw>
          </a:effectLst>
        </p:spPr>
      </p:sp>
      <p:sp>
        <p:nvSpPr>
          <p:cNvPr id="20" name="Step badge 4"/>
          <p:cNvSpPr/>
          <p:nvPr/>
        </p:nvSpPr>
        <p:spPr>
          <a:xfrm>
            <a:off x="640080" y="3136392"/>
            <a:ext cx="384048" cy="384048"/>
          </a:xfrm>
          <a:prstGeom prst="ellipse">
            <a:avLst/>
          </a:prstGeom>
          <a:solidFill>
            <a:schemeClr val="accent1"/>
          </a:solidFill>
          <a:ln/>
        </p:spPr>
      </p:sp>
      <p:sp>
        <p:nvSpPr>
          <p:cNvPr id="21" name="Step number 4"/>
          <p:cNvSpPr txBox="1"/>
          <p:nvPr/>
        </p:nvSpPr>
        <p:spPr>
          <a:xfrm>
            <a:off x="640080" y="31363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Step heading 4"/>
          <p:cNvSpPr txBox="1"/>
          <p:nvPr/>
        </p:nvSpPr>
        <p:spPr>
          <a:xfrm>
            <a:off x="1143000" y="3136392"/>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Roll back</a:t>
            </a:r>
            <a:endParaRPr lang="en-US" sz="1600" dirty="0"/>
          </a:p>
        </p:txBody>
      </p:sp>
      <p:sp>
        <p:nvSpPr>
          <p:cNvPr id="23" name="Step body 4"/>
          <p:cNvSpPr txBox="1"/>
          <p:nvPr/>
        </p:nvSpPr>
        <p:spPr>
          <a:xfrm>
            <a:off x="640080" y="3657600"/>
            <a:ext cx="2286000" cy="777240"/>
          </a:xfrm>
          <a:prstGeom prst="rect">
            <a:avLst/>
          </a:prstGeom>
          <a:noFill/>
          <a:ln/>
        </p:spPr>
        <p:txBody>
          <a:bodyPr wrap="square" lIns="0" tIns="0" rIns="0" bIns="0" rtlCol="0" anchor="t"/>
          <a:lstStyle/>
          <a:p>
            <a:pPr indent="0" marL="0">
              <a:buNone/>
            </a:pPr>
            <a:r>
              <a:rPr lang="en-US" sz="1400" dirty="0">
                <a:solidFill>
                  <a:schemeClr val="tx2"/>
                </a:solidFill>
              </a:rPr>
              <a:t>Saga rollback restores 358,454.85 BDT to the account.</a:t>
            </a:r>
            <a:endParaRPr lang="en-US" sz="1400" dirty="0"/>
          </a:p>
        </p:txBody>
      </p:sp>
      <p:sp>
        <p:nvSpPr>
          <p:cNvPr id="24" name="Step card 5"/>
          <p:cNvSpPr/>
          <p:nvPr/>
        </p:nvSpPr>
        <p:spPr>
          <a:xfrm>
            <a:off x="3268980" y="2971800"/>
            <a:ext cx="2606040" cy="1554480"/>
          </a:xfrm>
          <a:prstGeom prst="roundRect">
            <a:avLst>
              <a:gd name="adj" fmla="val 4706"/>
            </a:avLst>
          </a:prstGeom>
          <a:solidFill>
            <a:schemeClr val="bg2"/>
          </a:solidFill>
          <a:ln/>
          <a:effectLst>
            <a:outerShdw sx="100000" sy="100000" kx="0" ky="0" algn="bl" rotWithShape="0" blurRad="76200" dist="25400" dir="5400000">
              <a:srgbClr val="0B1226">
                <a:alpha val="10000"/>
              </a:srgbClr>
            </a:outerShdw>
          </a:effectLst>
        </p:spPr>
      </p:sp>
      <p:sp>
        <p:nvSpPr>
          <p:cNvPr id="25" name="Step badge 5"/>
          <p:cNvSpPr/>
          <p:nvPr/>
        </p:nvSpPr>
        <p:spPr>
          <a:xfrm>
            <a:off x="3451860" y="3136392"/>
            <a:ext cx="384048" cy="384048"/>
          </a:xfrm>
          <a:prstGeom prst="ellipse">
            <a:avLst/>
          </a:prstGeom>
          <a:solidFill>
            <a:schemeClr val="accent4"/>
          </a:solidFill>
          <a:ln/>
        </p:spPr>
      </p:sp>
      <p:sp>
        <p:nvSpPr>
          <p:cNvPr id="26" name="Step number 5"/>
          <p:cNvSpPr txBox="1"/>
          <p:nvPr/>
        </p:nvSpPr>
        <p:spPr>
          <a:xfrm>
            <a:off x="3451860" y="31363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Step heading 5"/>
          <p:cNvSpPr txBox="1"/>
          <p:nvPr/>
        </p:nvSpPr>
        <p:spPr>
          <a:xfrm>
            <a:off x="3954780" y="3136392"/>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Over limit</a:t>
            </a:r>
            <a:endParaRPr lang="en-US" sz="1600" dirty="0"/>
          </a:p>
        </p:txBody>
      </p:sp>
      <p:sp>
        <p:nvSpPr>
          <p:cNvPr id="28" name="Step body 5"/>
          <p:cNvSpPr txBox="1"/>
          <p:nvPr/>
        </p:nvSpPr>
        <p:spPr>
          <a:xfrm>
            <a:off x="3451860" y="3657600"/>
            <a:ext cx="2286000" cy="777240"/>
          </a:xfrm>
          <a:prstGeom prst="rect">
            <a:avLst/>
          </a:prstGeom>
          <a:noFill/>
          <a:ln/>
        </p:spPr>
        <p:txBody>
          <a:bodyPr wrap="square" lIns="0" tIns="0" rIns="0" bIns="0" rtlCol="0" anchor="t"/>
          <a:lstStyle/>
          <a:p>
            <a:pPr indent="0" marL="0">
              <a:buNone/>
            </a:pPr>
            <a:r>
              <a:rPr lang="en-US" sz="1400" dirty="0">
                <a:solidFill>
                  <a:schemeClr val="tx2"/>
                </a:solidFill>
              </a:rPr>
              <a:t>$4,500 = 537,507.28 BDT. Blocked at the 400,000 cap.</a:t>
            </a:r>
            <a:endParaRPr lang="en-US" sz="1400" dirty="0"/>
          </a:p>
        </p:txBody>
      </p:sp>
      <p:sp>
        <p:nvSpPr>
          <p:cNvPr id="29" name="Step card 6"/>
          <p:cNvSpPr/>
          <p:nvPr/>
        </p:nvSpPr>
        <p:spPr>
          <a:xfrm>
            <a:off x="6080760" y="2971800"/>
            <a:ext cx="2606040" cy="1554480"/>
          </a:xfrm>
          <a:prstGeom prst="roundRect">
            <a:avLst>
              <a:gd name="adj" fmla="val 4706"/>
            </a:avLst>
          </a:prstGeom>
          <a:solidFill>
            <a:schemeClr val="bg2"/>
          </a:solidFill>
          <a:ln/>
          <a:effectLst>
            <a:outerShdw sx="100000" sy="100000" kx="0" ky="0" algn="bl" rotWithShape="0" blurRad="76200" dist="25400" dir="5400000">
              <a:srgbClr val="0B1226">
                <a:alpha val="10000"/>
              </a:srgbClr>
            </a:outerShdw>
          </a:effectLst>
        </p:spPr>
      </p:sp>
      <p:sp>
        <p:nvSpPr>
          <p:cNvPr id="30" name="Step badge 6"/>
          <p:cNvSpPr/>
          <p:nvPr/>
        </p:nvSpPr>
        <p:spPr>
          <a:xfrm>
            <a:off x="6263640" y="3136392"/>
            <a:ext cx="384048" cy="384048"/>
          </a:xfrm>
          <a:prstGeom prst="ellipse">
            <a:avLst/>
          </a:prstGeom>
          <a:solidFill>
            <a:schemeClr val="accent4"/>
          </a:solidFill>
          <a:ln/>
        </p:spPr>
      </p:sp>
      <p:sp>
        <p:nvSpPr>
          <p:cNvPr id="31" name="Step number 6"/>
          <p:cNvSpPr txBox="1"/>
          <p:nvPr/>
        </p:nvSpPr>
        <p:spPr>
          <a:xfrm>
            <a:off x="6263640" y="31363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Step heading 6"/>
          <p:cNvSpPr txBox="1"/>
          <p:nvPr/>
        </p:nvSpPr>
        <p:spPr>
          <a:xfrm>
            <a:off x="6766560" y="3136392"/>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Attack</a:t>
            </a:r>
            <a:endParaRPr lang="en-US" sz="1600" dirty="0"/>
          </a:p>
        </p:txBody>
      </p:sp>
      <p:sp>
        <p:nvSpPr>
          <p:cNvPr id="33" name="Step body 6"/>
          <p:cNvSpPr txBox="1"/>
          <p:nvPr/>
        </p:nvSpPr>
        <p:spPr>
          <a:xfrm>
            <a:off x="6263640" y="3657600"/>
            <a:ext cx="2286000" cy="777240"/>
          </a:xfrm>
          <a:prstGeom prst="rect">
            <a:avLst/>
          </a:prstGeom>
          <a:noFill/>
          <a:ln/>
        </p:spPr>
        <p:txBody>
          <a:bodyPr wrap="square" lIns="0" tIns="0" rIns="0" bIns="0" rtlCol="0" anchor="t"/>
          <a:lstStyle/>
          <a:p>
            <a:pPr indent="0" marL="0">
              <a:buNone/>
            </a:pPr>
            <a:r>
              <a:rPr lang="en-US" sz="1400" dirty="0">
                <a:solidFill>
                  <a:schemeClr val="tx2"/>
                </a:solidFill>
              </a:rPr>
              <a:t>Prompt injection and shell-bomb payloads are blocked and logged.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COMPLIANCE</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Append-Only Audit Trail</a:t>
            </a:r>
            <a:endParaRPr lang="en-US" sz="3400" dirty="0"/>
          </a:p>
        </p:txBody>
      </p:sp>
      <p:graphicFrame>
        <p:nvGraphicFramePr>
          <p:cNvPr id="9" name="Audit table"/>
          <p:cNvGraphicFramePr>
            <a:graphicFrameLocks noGrp="1"/>
          </p:cNvGraphicFramePr>
          <p:nvPr>
            <p:extLst>
              <p:ext uri="{D42A27DB-BD31-4B8C-83A1-F6EECF244321}">
                <p14:modId xmlns:p14="http://schemas.microsoft.com/office/powerpoint/2010/main" val="1579011935"/>
              </p:ext>
            </p:extLst>
          </p:nvPr>
        </p:nvGraphicFramePr>
        <p:xfrm>
          <a:off x="457200" y="1280160"/>
          <a:ext cx="5303520" cy="914400"/>
        </p:xfrm>
        <a:graphic>
          <a:graphicData uri="http://schemas.openxmlformats.org/drawingml/2006/table">
            <a:tbl>
              <a:tblPr/>
              <a:tblGrid>
                <a:gridCol w="2743200"/>
                <a:gridCol w="1371600"/>
                <a:gridCol w="1188720"/>
              </a:tblGrid>
              <a:tr h="365760">
                <a:tc>
                  <a:txBody>
                    <a:bodyPr/>
                    <a:lstStyle/>
                    <a:p>
                      <a:pPr indent="0" marL="0">
                        <a:buNone/>
                      </a:pPr>
                      <a:r>
                        <a:rPr lang="en-US" sz="1200" b="1" dirty="0">
                          <a:solidFill>
                            <a:srgbClr val="FFFFFF"/>
                          </a:solidFill>
                        </a:rPr>
                        <a:t>Event</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226"/>
                    </a:solidFill>
                  </a:tcPr>
                </a:tc>
                <a:tc>
                  <a:txBody>
                    <a:bodyPr/>
                    <a:lstStyle/>
                    <a:p>
                      <a:pPr indent="0" marL="0">
                        <a:buNone/>
                      </a:pPr>
                      <a:r>
                        <a:rPr lang="en-US" sz="1200" b="1" dirty="0">
                          <a:solidFill>
                            <a:srgbClr val="FFFFFF"/>
                          </a:solidFill>
                        </a:rPr>
                        <a:t>Tier</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226"/>
                    </a:solidFill>
                  </a:tcPr>
                </a:tc>
                <a:tc>
                  <a:txBody>
                    <a:bodyPr/>
                    <a:lstStyle/>
                    <a:p>
                      <a:pPr indent="0" marL="0">
                        <a:buNone/>
                      </a:pPr>
                      <a:r>
                        <a:rPr lang="en-US" sz="1200" b="1" dirty="0">
                          <a:solidFill>
                            <a:srgbClr val="FFFFFF"/>
                          </a:solidFill>
                        </a:rPr>
                        <a:t>Result</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226"/>
                    </a:solidFill>
                  </a:tcPr>
                </a:tc>
              </a:tr>
              <a:tr h="365760">
                <a:tc>
                  <a:txBody>
                    <a:bodyPr/>
                    <a:lstStyle/>
                    <a:p>
                      <a:pPr indent="0" marL="0">
                        <a:buNone/>
                      </a:pPr>
                      <a:r>
                        <a:rPr lang="en-US" sz="1200" dirty="0">
                          <a:solidFill>
                            <a:srgbClr val="0B1226"/>
                          </a:solidFill>
                        </a:rPr>
                        <a:t>ROUTE_COMPARISON</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READ_ONLY</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5803D"/>
                          </a:solidFill>
                        </a:rPr>
                        <a:t>SUCCESS</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B1226"/>
                          </a:solidFill>
                        </a:rPr>
                        <a:t>DRAFT_CREATED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475569"/>
                          </a:solidFill>
                        </a:rPr>
                        <a:t>DRAFT</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b="1" dirty="0">
                          <a:solidFill>
                            <a:srgbClr val="15803D"/>
                          </a:solidFill>
                        </a:rPr>
                        <a:t>SUCCESS</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65760">
                <a:tc>
                  <a:txBody>
                    <a:bodyPr/>
                    <a:lstStyle/>
                    <a:p>
                      <a:pPr indent="0" marL="0">
                        <a:buNone/>
                      </a:pPr>
                      <a:r>
                        <a:rPr lang="en-US" sz="1200" dirty="0">
                          <a:solidFill>
                            <a:srgbClr val="0B1226"/>
                          </a:solidFill>
                        </a:rPr>
                        <a:t>CONFIRM_SUCCESS</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EXECUTE</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5803D"/>
                          </a:solidFill>
                        </a:rPr>
                        <a:t>SUCCESS</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B1226"/>
                          </a:solidFill>
                        </a:rPr>
                        <a:t>TRANSFER_COMPENSATED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475569"/>
                          </a:solidFill>
                        </a:rPr>
                        <a:t>EXECUTE</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WARNING</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65760">
                <a:tc>
                  <a:txBody>
                    <a:bodyPr/>
                    <a:lstStyle/>
                    <a:p>
                      <a:pPr indent="0" marL="0">
                        <a:buNone/>
                      </a:pPr>
                      <a:r>
                        <a:rPr lang="en-US" sz="1200" dirty="0">
                          <a:solidFill>
                            <a:srgbClr val="0B1226"/>
                          </a:solidFill>
                        </a:rPr>
                        <a:t>SAFETY_LIMIT_TRIGGERED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DRAFT</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rPr>
                        <a:t>BLOCKED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B1226"/>
                          </a:solidFill>
                        </a:rPr>
                        <a:t>PROMPT_INJECTION_FLAGGED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475569"/>
                          </a:solidFill>
                        </a:rPr>
                        <a:t>READ_ONLY</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FLAGGED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65760">
                <a:tc>
                  <a:txBody>
                    <a:bodyPr/>
                    <a:lstStyle/>
                    <a:p>
                      <a:pPr indent="0" marL="0">
                        <a:buNone/>
                      </a:pPr>
                      <a:r>
                        <a:rPr lang="en-US" sz="1200" dirty="0">
                          <a:solidFill>
                            <a:srgbClr val="0B1226"/>
                          </a:solidFill>
                        </a:rPr>
                        <a:t>PENETRATION_ATTACK_BLOCKED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READ_ONLY</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rPr>
                        <a:t>BLOCKED</a:t>
                      </a:r>
                      <a:endParaRPr lang="en-US" sz="1200" dirty="0"/>
                    </a:p>
                  </a:txBody>
                  <a:tcPr marL="91440" marR="91440"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able source"/>
          <p:cNvSpPr txBox="1"/>
          <p:nvPr/>
        </p:nvSpPr>
        <p:spPr>
          <a:xfrm>
            <a:off x="457200" y="4343400"/>
            <a:ext cx="5303520" cy="228600"/>
          </a:xfrm>
          <a:prstGeom prst="rect">
            <a:avLst/>
          </a:prstGeom>
          <a:noFill/>
          <a:ln/>
        </p:spPr>
        <p:txBody>
          <a:bodyPr wrap="square" lIns="0" tIns="0" rIns="0" bIns="0" rtlCol="0" anchor="t"/>
          <a:lstStyle/>
          <a:p>
            <a:pPr indent="0" marL="0">
              <a:buNone/>
            </a:pPr>
            <a:r>
              <a:rPr lang="en-US" sz="1100" dirty="0">
                <a:solidFill>
                  <a:schemeClr val="tx2"/>
                </a:solidFill>
              </a:rPr>
              <a:t>Source: execution-evidence.json (sandbox export)</a:t>
            </a:r>
            <a:endParaRPr lang="en-US" sz="1100" dirty="0"/>
          </a:p>
        </p:txBody>
      </p:sp>
      <p:sp>
        <p:nvSpPr>
          <p:cNvPr id="6" name="Stat card"/>
          <p:cNvSpPr/>
          <p:nvPr/>
        </p:nvSpPr>
        <p:spPr>
          <a:xfrm>
            <a:off x="5989320" y="1280160"/>
            <a:ext cx="2697480" cy="1463040"/>
          </a:xfrm>
          <a:prstGeom prst="roundRect">
            <a:avLst>
              <a:gd name="adj" fmla="val 5000"/>
            </a:avLst>
          </a:prstGeom>
          <a:solidFill>
            <a:schemeClr val="tx1"/>
          </a:solidFill>
          <a:ln/>
        </p:spPr>
      </p:sp>
      <p:sp>
        <p:nvSpPr>
          <p:cNvPr id="7" name="Stat number"/>
          <p:cNvSpPr txBox="1"/>
          <p:nvPr/>
        </p:nvSpPr>
        <p:spPr>
          <a:xfrm>
            <a:off x="6172200" y="1325880"/>
            <a:ext cx="2331720" cy="822960"/>
          </a:xfrm>
          <a:prstGeom prst="rect">
            <a:avLst/>
          </a:prstGeom>
          <a:noFill/>
          <a:ln/>
        </p:spPr>
        <p:txBody>
          <a:bodyPr wrap="square" lIns="0" tIns="0" rIns="0" bIns="0" rtlCol="0" anchor="ctr"/>
          <a:lstStyle/>
          <a:p>
            <a:pPr indent="0" marL="0">
              <a:buNone/>
            </a:pPr>
            <a:r>
              <a:rPr lang="en-US" sz="5400" b="1" dirty="0">
                <a:solidFill>
                  <a:schemeClr val="accent6"/>
                </a:solidFill>
              </a:rPr>
              <a:t>9</a:t>
            </a:r>
            <a:endParaRPr lang="en-US" sz="5400" dirty="0"/>
          </a:p>
        </p:txBody>
      </p:sp>
      <p:sp>
        <p:nvSpPr>
          <p:cNvPr id="8" name="Stat label"/>
          <p:cNvSpPr txBox="1"/>
          <p:nvPr/>
        </p:nvSpPr>
        <p:spPr>
          <a:xfrm>
            <a:off x="6172200" y="2148840"/>
            <a:ext cx="2331720" cy="502920"/>
          </a:xfrm>
          <a:prstGeom prst="rect">
            <a:avLst/>
          </a:prstGeom>
          <a:noFill/>
          <a:ln/>
        </p:spPr>
        <p:txBody>
          <a:bodyPr wrap="square" lIns="0" tIns="0" rIns="0" bIns="0" rtlCol="0" anchor="t"/>
          <a:lstStyle/>
          <a:p>
            <a:pPr indent="0" marL="0">
              <a:buNone/>
            </a:pPr>
            <a:r>
              <a:rPr lang="en-US" sz="1400" dirty="0">
                <a:solidFill>
                  <a:schemeClr val="bg1"/>
                </a:solidFill>
              </a:rPr>
              <a:t>records in the sandbox export</a:t>
            </a:r>
            <a:endParaRPr lang="en-US" sz="1400" dirty="0"/>
          </a:p>
        </p:txBody>
      </p:sp>
      <p:sp>
        <p:nvSpPr>
          <p:cNvPr id="9" name="Audit note card"/>
          <p:cNvSpPr/>
          <p:nvPr/>
        </p:nvSpPr>
        <p:spPr>
          <a:xfrm>
            <a:off x="5989320" y="2926080"/>
            <a:ext cx="2697480" cy="1645920"/>
          </a:xfrm>
          <a:prstGeom prst="roundRect">
            <a:avLst>
              <a:gd name="adj" fmla="val 4444"/>
            </a:avLst>
          </a:prstGeom>
          <a:solidFill>
            <a:schemeClr val="bg2"/>
          </a:solidFill>
          <a:ln/>
          <a:effectLst>
            <a:outerShdw sx="100000" sy="100000" kx="0" ky="0" algn="bl" rotWithShape="0" blurRad="76200" dist="25400" dir="5400000">
              <a:srgbClr val="0B1226">
                <a:alpha val="10000"/>
              </a:srgbClr>
            </a:outerShdw>
          </a:effectLst>
        </p:spPr>
      </p:sp>
      <p:sp>
        <p:nvSpPr>
          <p:cNvPr id="10" name="Audit note text"/>
          <p:cNvSpPr txBox="1"/>
          <p:nvPr/>
        </p:nvSpPr>
        <p:spPr>
          <a:xfrm>
            <a:off x="6172200" y="3063240"/>
            <a:ext cx="2331720" cy="141732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Every tool call, block, and confirmation is logged.</a:t>
            </a:r>
            <a:endParaRPr lang="en-US" sz="1400" dirty="0"/>
          </a:p>
          <a:p>
            <a:pPr indent="0" marL="0">
              <a:spcAft>
                <a:spcPts val="800"/>
              </a:spcAft>
              <a:buNone/>
            </a:pPr>
            <a:r>
              <a:rPr lang="en-US" sz="1200" dirty="0">
                <a:solidFill>
                  <a:schemeClr val="tx2"/>
                </a:solidFill>
              </a:rPr>
              <a:t>Production plan: stream logs to write-once storage.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VERIFICATION</a:t>
            </a:r>
            <a:endParaRPr lang="en-US" sz="1100" dirty="0"/>
          </a:p>
        </p:txBody>
      </p:sp>
      <p:sp>
        <p:nvSpPr>
          <p:cNvPr id="3" name="Text 0"/>
          <p:cNvSpPr txBox="1"/>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80 Tests, All Passing</a:t>
            </a:r>
            <a:endParaRPr lang="en-US" sz="3400" dirty="0"/>
          </a:p>
        </p:txBody>
      </p:sp>
      <p:sp>
        <p:nvSpPr>
          <p:cNvPr id="4" name="Test stat card"/>
          <p:cNvSpPr/>
          <p:nvPr/>
        </p:nvSpPr>
        <p:spPr>
          <a:xfrm>
            <a:off x="457200" y="1280160"/>
            <a:ext cx="2377440" cy="3200400"/>
          </a:xfrm>
          <a:prstGeom prst="roundRect">
            <a:avLst>
              <a:gd name="adj" fmla="val 3077"/>
            </a:avLst>
          </a:prstGeom>
          <a:solidFill>
            <a:schemeClr val="tx1"/>
          </a:solidFill>
          <a:ln/>
        </p:spPr>
      </p:sp>
      <p:sp>
        <p:nvSpPr>
          <p:cNvPr id="5" name="Test stat circle"/>
          <p:cNvSpPr/>
          <p:nvPr/>
        </p:nvSpPr>
        <p:spPr>
          <a:xfrm>
            <a:off x="731520" y="1554480"/>
            <a:ext cx="548640" cy="548640"/>
          </a:xfrm>
          <a:prstGeom prst="ellipse">
            <a:avLst/>
          </a:prstGeom>
          <a:solidFill>
            <a:schemeClr val="accent6"/>
          </a:solidFill>
          <a:ln/>
        </p:spPr>
      </p:sp>
      <p:pic>
        <p:nvPicPr>
          <p:cNvPr id="6" name="Test stat icon" descr="preencoded.png">    </p:cNvPr>
          <p:cNvPicPr>
            <a:picLocks noChangeAspect="1"/>
          </p:cNvPicPr>
          <p:nvPr/>
        </p:nvPicPr>
        <p:blipFill>
          <a:blip r:embed="rId1"/>
          <a:stretch>
            <a:fillRect/>
          </a:stretch>
        </p:blipFill>
        <p:spPr>
          <a:xfrm>
            <a:off x="863194" y="1686154"/>
            <a:ext cx="285293" cy="285293"/>
          </a:xfrm>
          <a:prstGeom prst="rect">
            <a:avLst/>
          </a:prstGeom>
        </p:spPr>
      </p:pic>
      <p:sp>
        <p:nvSpPr>
          <p:cNvPr id="7" name="Test stat number"/>
          <p:cNvSpPr txBox="1"/>
          <p:nvPr/>
        </p:nvSpPr>
        <p:spPr>
          <a:xfrm>
            <a:off x="731520" y="2286000"/>
            <a:ext cx="1920240" cy="777240"/>
          </a:xfrm>
          <a:prstGeom prst="rect">
            <a:avLst/>
          </a:prstGeom>
          <a:noFill/>
          <a:ln/>
        </p:spPr>
        <p:txBody>
          <a:bodyPr wrap="square" lIns="0" tIns="0" rIns="0" bIns="0" rtlCol="0" anchor="ctr"/>
          <a:lstStyle/>
          <a:p>
            <a:pPr indent="0" marL="0">
              <a:buNone/>
            </a:pPr>
            <a:r>
              <a:rPr lang="en-US" sz="4800" b="1" dirty="0">
                <a:solidFill>
                  <a:schemeClr val="accent6"/>
                </a:solidFill>
              </a:rPr>
              <a:t>80/80</a:t>
            </a:r>
            <a:endParaRPr lang="en-US" sz="4800" dirty="0"/>
          </a:p>
        </p:txBody>
      </p:sp>
      <p:sp>
        <p:nvSpPr>
          <p:cNvPr id="8" name="Test stat label"/>
          <p:cNvSpPr txBox="1"/>
          <p:nvPr/>
        </p:nvSpPr>
        <p:spPr>
          <a:xfrm>
            <a:off x="731520" y="3154680"/>
            <a:ext cx="1920240" cy="118872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Jest tests pass</a:t>
            </a:r>
            <a:endParaRPr lang="en-US" sz="1600" dirty="0"/>
          </a:p>
          <a:p>
            <a:pPr indent="0" marL="0">
              <a:spcAft>
                <a:spcPts val="600"/>
              </a:spcAft>
              <a:buNone/>
            </a:pPr>
            <a:r>
              <a:rPr lang="en-US" sz="1400" dirty="0">
                <a:solidFill>
                  <a:schemeClr val="bg2"/>
                </a:solidFill>
              </a:rPr>
              <a:t>Two suites: security and hardening</a:t>
            </a:r>
            <a:endParaRPr lang="en-US" sz="1600" dirty="0"/>
          </a:p>
        </p:txBody>
      </p:sp>
      <p:sp>
        <p:nvSpPr>
          <p:cNvPr id="9" name="Test list card 1"/>
          <p:cNvSpPr/>
          <p:nvPr/>
        </p:nvSpPr>
        <p:spPr>
          <a:xfrm>
            <a:off x="3017520" y="1280160"/>
            <a:ext cx="2743200" cy="3200400"/>
          </a:xfrm>
          <a:prstGeom prst="roundRect">
            <a:avLst>
              <a:gd name="adj" fmla="val 2667"/>
            </a:avLst>
          </a:prstGeom>
          <a:solidFill>
            <a:schemeClr val="bg2"/>
          </a:solidFill>
          <a:ln/>
          <a:effectLst>
            <a:outerShdw sx="100000" sy="100000" kx="0" ky="0" algn="bl" rotWithShape="0" blurRad="76200" dist="25400" dir="5400000">
              <a:srgbClr val="0B1226">
                <a:alpha val="10000"/>
              </a:srgbClr>
            </a:outerShdw>
          </a:effectLst>
        </p:spPr>
      </p:sp>
      <p:sp>
        <p:nvSpPr>
          <p:cNvPr id="10" name="Test list title 1"/>
          <p:cNvSpPr txBox="1"/>
          <p:nvPr/>
        </p:nvSpPr>
        <p:spPr>
          <a:xfrm>
            <a:off x="3246120" y="14630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Financial safety</a:t>
            </a:r>
            <a:endParaRPr lang="en-US" sz="1800" dirty="0"/>
          </a:p>
        </p:txBody>
      </p:sp>
      <p:sp>
        <p:nvSpPr>
          <p:cNvPr id="11" name="Test list 1"/>
          <p:cNvSpPr txBox="1"/>
          <p:nvPr/>
        </p:nvSpPr>
        <p:spPr>
          <a:xfrm>
            <a:off x="3246120" y="2011680"/>
            <a:ext cx="2331720" cy="22860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2"/>
                </a:solidFill>
              </a:rPr>
              <a:t>Transfer limits enforced</a:t>
            </a:r>
            <a:endParaRPr lang="en-US" sz="1400" dirty="0"/>
          </a:p>
          <a:p>
            <a:pPr marL="342900" indent="-342900">
              <a:spcAft>
                <a:spcPts val="900"/>
              </a:spcAft>
              <a:buSzPct val="100000"/>
              <a:buChar char="•"/>
            </a:pPr>
            <a:r>
              <a:rPr lang="en-US" sz="1400" dirty="0">
                <a:solidFill>
                  <a:schemeClr val="tx2"/>
                </a:solidFill>
              </a:rPr>
              <a:t>AI cannot confirm payment</a:t>
            </a:r>
            <a:endParaRPr lang="en-US" sz="1400" dirty="0"/>
          </a:p>
          <a:p>
            <a:pPr marL="342900" indent="-342900">
              <a:spcAft>
                <a:spcPts val="900"/>
              </a:spcAft>
              <a:buSzPct val="100000"/>
              <a:buChar char="•"/>
            </a:pPr>
            <a:r>
              <a:rPr lang="en-US" sz="1400" dirty="0">
                <a:solidFill>
                  <a:schemeClr val="tx2"/>
                </a:solidFill>
              </a:rPr>
              <a:t>Consent and token needed</a:t>
            </a:r>
            <a:endParaRPr lang="en-US" sz="1400" dirty="0"/>
          </a:p>
          <a:p>
            <a:pPr marL="342900" indent="-342900">
              <a:spcAft>
                <a:spcPts val="900"/>
              </a:spcAft>
              <a:buSzPct val="100000"/>
              <a:buChar char="•"/>
            </a:pPr>
            <a:r>
              <a:rPr lang="en-US" sz="1400" dirty="0">
                <a:solidFill>
                  <a:schemeClr val="tx2"/>
                </a:solidFill>
              </a:rPr>
              <a:t>Rollback restores funds</a:t>
            </a:r>
            <a:endParaRPr lang="en-US" sz="1400" dirty="0"/>
          </a:p>
          <a:p>
            <a:pPr marL="342900" indent="-342900">
              <a:spcAft>
                <a:spcPts val="900"/>
              </a:spcAft>
              <a:buSzPct val="100000"/>
              <a:buChar char="•"/>
            </a:pPr>
            <a:r>
              <a:rPr lang="en-US" sz="1400" dirty="0">
                <a:solidFill>
                  <a:schemeClr val="tx2"/>
                </a:solidFill>
              </a:rPr>
              <a:t>Route ranking, deadlines</a:t>
            </a:r>
            <a:endParaRPr lang="en-US" sz="1400" dirty="0"/>
          </a:p>
        </p:txBody>
      </p:sp>
      <p:sp>
        <p:nvSpPr>
          <p:cNvPr id="12" name="Test list card 2"/>
          <p:cNvSpPr/>
          <p:nvPr/>
        </p:nvSpPr>
        <p:spPr>
          <a:xfrm>
            <a:off x="5943600" y="1280160"/>
            <a:ext cx="2743200" cy="3200400"/>
          </a:xfrm>
          <a:prstGeom prst="roundRect">
            <a:avLst>
              <a:gd name="adj" fmla="val 2667"/>
            </a:avLst>
          </a:prstGeom>
          <a:solidFill>
            <a:schemeClr val="bg2"/>
          </a:solidFill>
          <a:ln/>
          <a:effectLst>
            <a:outerShdw sx="100000" sy="100000" kx="0" ky="0" algn="bl" rotWithShape="0" blurRad="76200" dist="25400" dir="5400000">
              <a:srgbClr val="0B1226">
                <a:alpha val="10000"/>
              </a:srgbClr>
            </a:outerShdw>
          </a:effectLst>
        </p:spPr>
      </p:sp>
      <p:sp>
        <p:nvSpPr>
          <p:cNvPr id="13" name="Test list title 2"/>
          <p:cNvSpPr txBox="1"/>
          <p:nvPr/>
        </p:nvSpPr>
        <p:spPr>
          <a:xfrm>
            <a:off x="6172200" y="14630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Security hardening</a:t>
            </a:r>
            <a:endParaRPr lang="en-US" sz="1800" dirty="0"/>
          </a:p>
        </p:txBody>
      </p:sp>
      <p:sp>
        <p:nvSpPr>
          <p:cNvPr id="14" name="Test list 2"/>
          <p:cNvSpPr txBox="1"/>
          <p:nvPr/>
        </p:nvSpPr>
        <p:spPr>
          <a:xfrm>
            <a:off x="6172200" y="2011680"/>
            <a:ext cx="2331720" cy="22860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2"/>
                </a:solidFill>
              </a:rPr>
              <a:t>Login and chat rate limits</a:t>
            </a:r>
            <a:endParaRPr lang="en-US" sz="1400" dirty="0"/>
          </a:p>
          <a:p>
            <a:pPr marL="342900" indent="-342900">
              <a:spcAft>
                <a:spcPts val="900"/>
              </a:spcAft>
              <a:buSzPct val="100000"/>
              <a:buChar char="•"/>
            </a:pPr>
            <a:r>
              <a:rPr lang="en-US" sz="1400" dirty="0">
                <a:solidFill>
                  <a:schemeClr val="tx2"/>
                </a:solidFill>
              </a:rPr>
              <a:t>Student data isolation</a:t>
            </a:r>
            <a:endParaRPr lang="en-US" sz="1400" dirty="0"/>
          </a:p>
          <a:p>
            <a:pPr marL="342900" indent="-342900">
              <a:spcAft>
                <a:spcPts val="900"/>
              </a:spcAft>
              <a:buSzPct val="100000"/>
              <a:buChar char="•"/>
            </a:pPr>
            <a:r>
              <a:rPr lang="en-US" sz="1400" dirty="0">
                <a:solidFill>
                  <a:schemeClr val="tx2"/>
                </a:solidFill>
              </a:rPr>
              <a:t>Tampered JWTs rejected</a:t>
            </a:r>
            <a:endParaRPr lang="en-US" sz="1400" dirty="0"/>
          </a:p>
          <a:p>
            <a:pPr marL="342900" indent="-342900">
              <a:spcAft>
                <a:spcPts val="900"/>
              </a:spcAft>
              <a:buSzPct val="100000"/>
              <a:buChar char="•"/>
            </a:pPr>
            <a:r>
              <a:rPr lang="en-US" sz="1400" dirty="0">
                <a:solidFill>
                  <a:schemeClr val="tx2"/>
                </a:solidFill>
              </a:rPr>
              <a:t>Injection and WAF blocks</a:t>
            </a:r>
            <a:endParaRPr lang="en-US" sz="1400" dirty="0"/>
          </a:p>
          <a:p>
            <a:pPr marL="342900" indent="-342900">
              <a:spcAft>
                <a:spcPts val="900"/>
              </a:spcAft>
              <a:buSzPct val="100000"/>
              <a:buChar char="•"/>
            </a:pPr>
            <a:r>
              <a:rPr lang="en-US" sz="1400" dirty="0">
                <a:solidFill>
                  <a:schemeClr val="tx2"/>
                </a:solidFill>
              </a:rPr>
              <a:t>Admin-only sandbox reset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chemeClr val="accent6"/>
                </a:solidFill>
              </a:rPr>
              <a:t>WHAT COMES NEXT</a:t>
            </a:r>
            <a:endParaRPr lang="en-US" sz="1100" dirty="0"/>
          </a:p>
        </p:txBody>
      </p:sp>
      <p:sp>
        <p:nvSpPr>
          <p:cNvPr id="3" name="Title"/>
          <p:cNvSpPr txBox="1"/>
          <p:nvPr/>
        </p:nvSpPr>
        <p:spPr>
          <a:xfrm>
            <a:off x="457200" y="502920"/>
            <a:ext cx="8229600" cy="640080"/>
          </a:xfrm>
          <a:prstGeom prst="rect">
            <a:avLst/>
          </a:prstGeom>
          <a:noFill/>
          <a:ln/>
        </p:spPr>
        <p:txBody>
          <a:bodyPr wrap="square" lIns="0" tIns="0" rIns="0" bIns="0" rtlCol="0" anchor="ctr"/>
          <a:lstStyle/>
          <a:p>
            <a:pPr indent="0" marL="0">
              <a:buNone/>
            </a:pPr>
            <a:r>
              <a:rPr lang="en-US" sz="3600" b="1" dirty="0">
                <a:solidFill>
                  <a:schemeClr val="bg1"/>
                </a:solidFill>
              </a:rPr>
              <a:t>Roadmap &amp; Next Steps</a:t>
            </a:r>
            <a:endParaRPr lang="en-US" sz="3600" dirty="0"/>
          </a:p>
        </p:txBody>
      </p:sp>
      <p:sp>
        <p:nvSpPr>
          <p:cNvPr id="4" name="Road card 1"/>
          <p:cNvSpPr/>
          <p:nvPr/>
        </p:nvSpPr>
        <p:spPr>
          <a:xfrm>
            <a:off x="457200" y="1371600"/>
            <a:ext cx="2606040" cy="2011680"/>
          </a:xfrm>
          <a:prstGeom prst="roundRect">
            <a:avLst>
              <a:gd name="adj" fmla="val 3636"/>
            </a:avLst>
          </a:prstGeom>
          <a:solidFill>
            <a:schemeClr val="bg1">
              <a:alpha val="10000"/>
            </a:schemeClr>
          </a:solidFill>
          <a:ln/>
        </p:spPr>
      </p:sp>
      <p:sp>
        <p:nvSpPr>
          <p:cNvPr id="5" name="Road circle 1"/>
          <p:cNvSpPr/>
          <p:nvPr/>
        </p:nvSpPr>
        <p:spPr>
          <a:xfrm>
            <a:off x="685800" y="1554480"/>
            <a:ext cx="502920" cy="502920"/>
          </a:xfrm>
          <a:prstGeom prst="ellipse">
            <a:avLst/>
          </a:prstGeom>
          <a:solidFill>
            <a:schemeClr val="accent6"/>
          </a:solidFill>
          <a:ln/>
        </p:spPr>
      </p:sp>
      <p:pic>
        <p:nvPicPr>
          <p:cNvPr id="6" name="Road icon dark 1" descr="preencoded.png">    </p:cNvPr>
          <p:cNvPicPr>
            <a:picLocks noChangeAspect="1"/>
          </p:cNvPicPr>
          <p:nvPr/>
        </p:nvPicPr>
        <p:blipFill>
          <a:blip r:embed="rId1"/>
          <a:stretch>
            <a:fillRect/>
          </a:stretch>
        </p:blipFill>
        <p:spPr>
          <a:xfrm>
            <a:off x="804672" y="1673352"/>
            <a:ext cx="265176" cy="265176"/>
          </a:xfrm>
          <a:prstGeom prst="rect">
            <a:avLst/>
          </a:prstGeom>
        </p:spPr>
      </p:pic>
      <p:sp>
        <p:nvSpPr>
          <p:cNvPr id="7" name="Road phase 1"/>
          <p:cNvSpPr txBox="1"/>
          <p:nvPr/>
        </p:nvSpPr>
        <p:spPr>
          <a:xfrm>
            <a:off x="1325880" y="1554480"/>
            <a:ext cx="1645920" cy="502920"/>
          </a:xfrm>
          <a:prstGeom prst="rect">
            <a:avLst/>
          </a:prstGeom>
          <a:noFill/>
          <a:ln/>
        </p:spPr>
        <p:txBody>
          <a:bodyPr wrap="square" lIns="0" tIns="0" rIns="0" bIns="0" rtlCol="0" anchor="ctr"/>
          <a:lstStyle/>
          <a:p>
            <a:pPr indent="0" marL="0">
              <a:buNone/>
            </a:pPr>
            <a:r>
              <a:rPr lang="en-US" sz="1200" b="1" spc="200" kern="0" dirty="0">
                <a:solidFill>
                  <a:schemeClr val="accent6"/>
                </a:solidFill>
              </a:rPr>
              <a:t>SHORT TERM</a:t>
            </a:r>
            <a:endParaRPr lang="en-US" sz="1200" dirty="0"/>
          </a:p>
        </p:txBody>
      </p:sp>
      <p:sp>
        <p:nvSpPr>
          <p:cNvPr id="8" name="Road heading 1"/>
          <p:cNvSpPr txBox="1"/>
          <p:nvPr/>
        </p:nvSpPr>
        <p:spPr>
          <a:xfrm>
            <a:off x="685800" y="2194560"/>
            <a:ext cx="2194560" cy="320040"/>
          </a:xfrm>
          <a:prstGeom prst="rect">
            <a:avLst/>
          </a:prstGeom>
          <a:noFill/>
          <a:ln/>
        </p:spPr>
        <p:txBody>
          <a:bodyPr wrap="square" lIns="0" tIns="0" rIns="0" bIns="0" rtlCol="0" anchor="t"/>
          <a:lstStyle/>
          <a:p>
            <a:pPr indent="0" marL="0">
              <a:buNone/>
            </a:pPr>
            <a:r>
              <a:rPr lang="en-US" sz="1800" b="1" dirty="0">
                <a:solidFill>
                  <a:schemeClr val="bg1"/>
                </a:solidFill>
              </a:rPr>
              <a:t>University integration</a:t>
            </a:r>
            <a:endParaRPr lang="en-US" sz="1800" dirty="0"/>
          </a:p>
        </p:txBody>
      </p:sp>
      <p:sp>
        <p:nvSpPr>
          <p:cNvPr id="9" name="Road body 1"/>
          <p:cNvSpPr txBox="1"/>
          <p:nvPr/>
        </p:nvSpPr>
        <p:spPr>
          <a:xfrm>
            <a:off x="685800" y="2606040"/>
            <a:ext cx="2194560" cy="685800"/>
          </a:xfrm>
          <a:prstGeom prst="rect">
            <a:avLst/>
          </a:prstGeom>
          <a:noFill/>
          <a:ln/>
        </p:spPr>
        <p:txBody>
          <a:bodyPr wrap="square" lIns="0" tIns="0" rIns="0" bIns="0" rtlCol="0" anchor="t"/>
          <a:lstStyle/>
          <a:p>
            <a:pPr indent="0" marL="0">
              <a:buNone/>
            </a:pPr>
            <a:r>
              <a:rPr lang="en-US" sz="1400" dirty="0">
                <a:solidFill>
                  <a:schemeClr val="bg2"/>
                </a:solidFill>
              </a:rPr>
              <a:t>Import tuition invoices from student portals.</a:t>
            </a:r>
            <a:endParaRPr lang="en-US" sz="1400" dirty="0"/>
          </a:p>
        </p:txBody>
      </p:sp>
      <p:sp>
        <p:nvSpPr>
          <p:cNvPr id="10" name="Road card 2"/>
          <p:cNvSpPr/>
          <p:nvPr/>
        </p:nvSpPr>
        <p:spPr>
          <a:xfrm>
            <a:off x="3268980" y="1371600"/>
            <a:ext cx="2606040" cy="2011680"/>
          </a:xfrm>
          <a:prstGeom prst="roundRect">
            <a:avLst>
              <a:gd name="adj" fmla="val 3636"/>
            </a:avLst>
          </a:prstGeom>
          <a:solidFill>
            <a:schemeClr val="bg1">
              <a:alpha val="10000"/>
            </a:schemeClr>
          </a:solidFill>
          <a:ln/>
        </p:spPr>
      </p:sp>
      <p:sp>
        <p:nvSpPr>
          <p:cNvPr id="11" name="Road circle 2"/>
          <p:cNvSpPr/>
          <p:nvPr/>
        </p:nvSpPr>
        <p:spPr>
          <a:xfrm>
            <a:off x="3497580" y="1554480"/>
            <a:ext cx="502920" cy="502920"/>
          </a:xfrm>
          <a:prstGeom prst="ellipse">
            <a:avLst/>
          </a:prstGeom>
          <a:solidFill>
            <a:schemeClr val="accent6"/>
          </a:solidFill>
          <a:ln/>
        </p:spPr>
      </p:sp>
      <p:pic>
        <p:nvPicPr>
          <p:cNvPr id="12" name="Road icon dark 2" descr="preencoded.png">    </p:cNvPr>
          <p:cNvPicPr>
            <a:picLocks noChangeAspect="1"/>
          </p:cNvPicPr>
          <p:nvPr/>
        </p:nvPicPr>
        <p:blipFill>
          <a:blip r:embed="rId2"/>
          <a:stretch>
            <a:fillRect/>
          </a:stretch>
        </p:blipFill>
        <p:spPr>
          <a:xfrm>
            <a:off x="3616452" y="1673352"/>
            <a:ext cx="265176" cy="265176"/>
          </a:xfrm>
          <a:prstGeom prst="rect">
            <a:avLst/>
          </a:prstGeom>
        </p:spPr>
      </p:pic>
      <p:sp>
        <p:nvSpPr>
          <p:cNvPr id="13" name="Road phase 2"/>
          <p:cNvSpPr txBox="1"/>
          <p:nvPr/>
        </p:nvSpPr>
        <p:spPr>
          <a:xfrm>
            <a:off x="4137660" y="1554480"/>
            <a:ext cx="1645920" cy="502920"/>
          </a:xfrm>
          <a:prstGeom prst="rect">
            <a:avLst/>
          </a:prstGeom>
          <a:noFill/>
          <a:ln/>
        </p:spPr>
        <p:txBody>
          <a:bodyPr wrap="square" lIns="0" tIns="0" rIns="0" bIns="0" rtlCol="0" anchor="ctr"/>
          <a:lstStyle/>
          <a:p>
            <a:pPr indent="0" marL="0">
              <a:buNone/>
            </a:pPr>
            <a:r>
              <a:rPr lang="en-US" sz="1200" b="1" spc="200" kern="0" dirty="0">
                <a:solidFill>
                  <a:schemeClr val="accent6"/>
                </a:solidFill>
              </a:rPr>
              <a:t>MEDIUM TERM</a:t>
            </a:r>
            <a:endParaRPr lang="en-US" sz="1200" dirty="0"/>
          </a:p>
        </p:txBody>
      </p:sp>
      <p:sp>
        <p:nvSpPr>
          <p:cNvPr id="14" name="Road heading 2"/>
          <p:cNvSpPr txBox="1"/>
          <p:nvPr/>
        </p:nvSpPr>
        <p:spPr>
          <a:xfrm>
            <a:off x="3497580" y="2194560"/>
            <a:ext cx="2194560" cy="320040"/>
          </a:xfrm>
          <a:prstGeom prst="rect">
            <a:avLst/>
          </a:prstGeom>
          <a:noFill/>
          <a:ln/>
        </p:spPr>
        <p:txBody>
          <a:bodyPr wrap="square" lIns="0" tIns="0" rIns="0" bIns="0" rtlCol="0" anchor="t"/>
          <a:lstStyle/>
          <a:p>
            <a:pPr indent="0" marL="0">
              <a:buNone/>
            </a:pPr>
            <a:r>
              <a:rPr lang="en-US" sz="1800" b="1" dirty="0">
                <a:solidFill>
                  <a:schemeClr val="bg1"/>
                </a:solidFill>
              </a:rPr>
              <a:t>Real settlement</a:t>
            </a:r>
            <a:endParaRPr lang="en-US" sz="1800" dirty="0"/>
          </a:p>
        </p:txBody>
      </p:sp>
      <p:sp>
        <p:nvSpPr>
          <p:cNvPr id="15" name="Road body 2"/>
          <p:cNvSpPr txBox="1"/>
          <p:nvPr/>
        </p:nvSpPr>
        <p:spPr>
          <a:xfrm>
            <a:off x="3497580" y="2606040"/>
            <a:ext cx="2194560" cy="685800"/>
          </a:xfrm>
          <a:prstGeom prst="rect">
            <a:avLst/>
          </a:prstGeom>
          <a:noFill/>
          <a:ln/>
        </p:spPr>
        <p:txBody>
          <a:bodyPr wrap="square" lIns="0" tIns="0" rIns="0" bIns="0" rtlCol="0" anchor="t"/>
          <a:lstStyle/>
          <a:p>
            <a:pPr indent="0" marL="0">
              <a:buNone/>
            </a:pPr>
            <a:r>
              <a:rPr lang="en-US" sz="1400" dirty="0">
                <a:solidFill>
                  <a:schemeClr val="bg2"/>
                </a:solidFill>
              </a:rPr>
              <a:t>Central bank sandbox and RTGS rails.</a:t>
            </a:r>
            <a:endParaRPr lang="en-US" sz="1400" dirty="0"/>
          </a:p>
        </p:txBody>
      </p:sp>
      <p:sp>
        <p:nvSpPr>
          <p:cNvPr id="16" name="Road card 3"/>
          <p:cNvSpPr/>
          <p:nvPr/>
        </p:nvSpPr>
        <p:spPr>
          <a:xfrm>
            <a:off x="6080760" y="1371600"/>
            <a:ext cx="2606040" cy="2011680"/>
          </a:xfrm>
          <a:prstGeom prst="roundRect">
            <a:avLst>
              <a:gd name="adj" fmla="val 3636"/>
            </a:avLst>
          </a:prstGeom>
          <a:solidFill>
            <a:schemeClr val="bg1">
              <a:alpha val="10000"/>
            </a:schemeClr>
          </a:solidFill>
          <a:ln/>
        </p:spPr>
      </p:sp>
      <p:sp>
        <p:nvSpPr>
          <p:cNvPr id="17" name="Road circle 3"/>
          <p:cNvSpPr/>
          <p:nvPr/>
        </p:nvSpPr>
        <p:spPr>
          <a:xfrm>
            <a:off x="6309360" y="1554480"/>
            <a:ext cx="502920" cy="502920"/>
          </a:xfrm>
          <a:prstGeom prst="ellipse">
            <a:avLst/>
          </a:prstGeom>
          <a:solidFill>
            <a:schemeClr val="accent6"/>
          </a:solidFill>
          <a:ln/>
        </p:spPr>
      </p:sp>
      <p:pic>
        <p:nvPicPr>
          <p:cNvPr id="18" name="Road icon dark 3" descr="preencoded.png">    </p:cNvPr>
          <p:cNvPicPr>
            <a:picLocks noChangeAspect="1"/>
          </p:cNvPicPr>
          <p:nvPr/>
        </p:nvPicPr>
        <p:blipFill>
          <a:blip r:embed="rId3"/>
          <a:stretch>
            <a:fillRect/>
          </a:stretch>
        </p:blipFill>
        <p:spPr>
          <a:xfrm>
            <a:off x="6428232" y="1673352"/>
            <a:ext cx="265176" cy="265176"/>
          </a:xfrm>
          <a:prstGeom prst="rect">
            <a:avLst/>
          </a:prstGeom>
        </p:spPr>
      </p:pic>
      <p:sp>
        <p:nvSpPr>
          <p:cNvPr id="19" name="Road phase 3"/>
          <p:cNvSpPr txBox="1"/>
          <p:nvPr/>
        </p:nvSpPr>
        <p:spPr>
          <a:xfrm>
            <a:off x="6949440" y="1554480"/>
            <a:ext cx="1645920" cy="502920"/>
          </a:xfrm>
          <a:prstGeom prst="rect">
            <a:avLst/>
          </a:prstGeom>
          <a:noFill/>
          <a:ln/>
        </p:spPr>
        <p:txBody>
          <a:bodyPr wrap="square" lIns="0" tIns="0" rIns="0" bIns="0" rtlCol="0" anchor="ctr"/>
          <a:lstStyle/>
          <a:p>
            <a:pPr indent="0" marL="0">
              <a:buNone/>
            </a:pPr>
            <a:r>
              <a:rPr lang="en-US" sz="1200" b="1" spc="200" kern="0" dirty="0">
                <a:solidFill>
                  <a:schemeClr val="accent6"/>
                </a:solidFill>
              </a:rPr>
              <a:t>LONG TERM</a:t>
            </a:r>
            <a:endParaRPr lang="en-US" sz="1200" dirty="0"/>
          </a:p>
        </p:txBody>
      </p:sp>
      <p:sp>
        <p:nvSpPr>
          <p:cNvPr id="20" name="Road heading 3"/>
          <p:cNvSpPr txBox="1"/>
          <p:nvPr/>
        </p:nvSpPr>
        <p:spPr>
          <a:xfrm>
            <a:off x="6309360" y="2194560"/>
            <a:ext cx="2194560" cy="320040"/>
          </a:xfrm>
          <a:prstGeom prst="rect">
            <a:avLst/>
          </a:prstGeom>
          <a:noFill/>
          <a:ln/>
        </p:spPr>
        <p:txBody>
          <a:bodyPr wrap="square" lIns="0" tIns="0" rIns="0" bIns="0" rtlCol="0" anchor="t"/>
          <a:lstStyle/>
          <a:p>
            <a:pPr indent="0" marL="0">
              <a:buNone/>
            </a:pPr>
            <a:r>
              <a:rPr lang="en-US" sz="1800" b="1" dirty="0">
                <a:solidFill>
                  <a:schemeClr val="bg1"/>
                </a:solidFill>
              </a:rPr>
              <a:t>Split payments</a:t>
            </a:r>
            <a:endParaRPr lang="en-US" sz="1800" dirty="0"/>
          </a:p>
        </p:txBody>
      </p:sp>
      <p:sp>
        <p:nvSpPr>
          <p:cNvPr id="21" name="Road body 3"/>
          <p:cNvSpPr txBox="1"/>
          <p:nvPr/>
        </p:nvSpPr>
        <p:spPr>
          <a:xfrm>
            <a:off x="6309360" y="2606040"/>
            <a:ext cx="2194560" cy="685800"/>
          </a:xfrm>
          <a:prstGeom prst="rect">
            <a:avLst/>
          </a:prstGeom>
          <a:noFill/>
          <a:ln/>
        </p:spPr>
        <p:txBody>
          <a:bodyPr wrap="square" lIns="0" tIns="0" rIns="0" bIns="0" rtlCol="0" anchor="t"/>
          <a:lstStyle/>
          <a:p>
            <a:pPr indent="0" marL="0">
              <a:buNone/>
            </a:pPr>
            <a:r>
              <a:rPr lang="en-US" sz="1400" dirty="0">
                <a:solidFill>
                  <a:schemeClr val="bg2"/>
                </a:solidFill>
              </a:rPr>
              <a:t>Pay from family savings and education loans.</a:t>
            </a:r>
            <a:endParaRPr lang="en-US" sz="1400" dirty="0"/>
          </a:p>
        </p:txBody>
      </p:sp>
      <p:sp>
        <p:nvSpPr>
          <p:cNvPr id="22" name="Production note"/>
          <p:cNvSpPr txBox="1"/>
          <p:nvPr/>
        </p:nvSpPr>
        <p:spPr>
          <a:xfrm>
            <a:off x="457200" y="3611880"/>
            <a:ext cx="8229600" cy="457200"/>
          </a:xfrm>
          <a:prstGeom prst="rect">
            <a:avLst/>
          </a:prstGeom>
          <a:noFill/>
          <a:ln/>
        </p:spPr>
        <p:txBody>
          <a:bodyPr wrap="square" lIns="0" tIns="0" rIns="0" bIns="0" rtlCol="0" anchor="t"/>
          <a:lstStyle/>
          <a:p>
            <a:pPr indent="0" marL="0">
              <a:buNone/>
            </a:pPr>
            <a:r>
              <a:rPr lang="en-US" sz="1400" dirty="0">
                <a:solidFill>
                  <a:schemeClr val="bg2"/>
                </a:solidFill>
              </a:rPr>
              <a:t>Before going live: KYC and AML screening, distributed rate limiting, and an independent security audit.</a:t>
            </a:r>
            <a:endParaRPr lang="en-US" sz="1400" dirty="0"/>
          </a:p>
        </p:txBody>
      </p:sp>
      <p:sp>
        <p:nvSpPr>
          <p:cNvPr id="23" name="Closing"/>
          <p:cNvSpPr txBox="1"/>
          <p:nvPr/>
        </p:nvSpPr>
        <p:spPr>
          <a:xfrm>
            <a:off x="457200" y="4160520"/>
            <a:ext cx="8229600" cy="548640"/>
          </a:xfrm>
          <a:prstGeom prst="rect">
            <a:avLst/>
          </a:prstGeom>
          <a:noFill/>
          <a:ln/>
        </p:spPr>
        <p:txBody>
          <a:bodyPr wrap="square" lIns="0" tIns="0" rIns="0" bIns="0" rtlCol="0" anchor="ctr"/>
          <a:lstStyle/>
          <a:p>
            <a:pPr indent="0" marL="0">
              <a:buNone/>
            </a:pPr>
            <a:r>
              <a:rPr lang="en-US" sz="2800" b="1" dirty="0">
                <a:solidFill>
                  <a:schemeClr val="accent6"/>
                </a:solidFill>
              </a:rPr>
              <a:t>Thank you. Questions welcome.</a:t>
            </a:r>
            <a:endParaRPr lang="en-US" sz="2800" dirty="0"/>
          </a:p>
        </p:txBody>
      </p:sp>
    </p:spTree>
  </p:cSld>
  <p:clrMapOvr>
    <a:masterClrMapping/>
  </p:clrMapOvr>
</p:sld>
</file>

<file path=ppt/theme/theme1.xml><?xml version="1.0" encoding="utf-8"?>
<a:theme xmlns:a="http://schemas.openxmlformats.org/drawingml/2006/main" name="FinTechathon Navy">
  <a:themeElements>
    <a:clrScheme name="FinTechathon Navy">
      <a:dk1>
        <a:srgbClr val="0B1226"/>
      </a:dk1>
      <a:lt1>
        <a:srgbClr val="FFFFFF"/>
      </a:lt1>
      <a:dk2>
        <a:srgbClr val="475569"/>
      </a:dk2>
      <a:lt2>
        <a:srgbClr val="F1F5F9"/>
      </a:lt2>
      <a:accent1>
        <a:srgbClr val="0F766E"/>
      </a:accent1>
      <a:accent2>
        <a:srgbClr val="1D4ED8"/>
      </a:accent2>
      <a:accent3>
        <a:srgbClr val="B45309"/>
      </a:accent3>
      <a:accent4>
        <a:srgbClr val="B91C1C"/>
      </a:accent4>
      <a:accent5>
        <a:srgbClr val="15803D"/>
      </a:accent5>
      <a:accent6>
        <a:srgbClr val="5EEAD4"/>
      </a:accent6>
      <a:hlink>
        <a:srgbClr val="1D4ED8"/>
      </a:hlink>
      <a:folHlink>
        <a:srgbClr val="475569"/>
      </a:folHlink>
    </a:clrScheme>
    <a:fontScheme name="FinTechathon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Tuition Payment Agent - FinTechathon 2026</dc:title>
  <dc:subject>PptxGenJS Presentation</dc:subject>
  <dc:creator>Mir Eashan Zaman &amp; Ishmam Mubtasim</dc:creator>
  <cp:lastModifiedBy>Mir Eashan Zaman &amp; Ishmam Mubtasim</cp:lastModifiedBy>
  <cp:revision>1</cp:revision>
  <dcterms:created xsi:type="dcterms:W3CDTF">2026-10-17T21:48:12Z</dcterms:created>
  <dcterms:modified xsi:type="dcterms:W3CDTF">2026-10-17T21:48:12Z</dcterms:modified>
</cp:coreProperties>
</file>